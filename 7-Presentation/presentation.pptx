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media/image2.svg" ContentType="image/svg"/>
  <Override PartName="/ppt/media/image4.svg" ContentType="image/svg"/>
  <Override PartName="/ppt/media/image26.emf" ContentType="image/x-emf"/>
  <Override PartName="/ppt/media/image27.emf" ContentType="image/x-emf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7772400" cy="10058400"/>
  <p:embeddedFontLst>
    <p:embeddedFont>
      <p:font typeface="SRH"/>
    </p:embeddedFont>
    <p:embeddedFont>
      <p:font typeface="SRH Headline"/>
    </p:embeddedFont>
    <p:embeddedFont>
      <p:font typeface="SRH Text"/>
    </p:embeddedFont>
    <p:embeddedFont>
      <p:font typeface="Arial MT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und Text auf weis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7525800" cy="2323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0ED788-DE77-4F0C-90E3-ED7CA6CBFD1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7525800" cy="778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9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7525800" cy="490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0" name="PlaceHolder 8"/>
          <p:cNvSpPr>
            <a:spLocks noGrp="1"/>
          </p:cNvSpPr>
          <p:nvPr>
            <p:ph type="body"/>
          </p:nvPr>
        </p:nvSpPr>
        <p:spPr>
          <a:xfrm>
            <a:off x="8248680" y="1728000"/>
            <a:ext cx="358164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Gliederung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2" name="Logo-Fragment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sldNum" idx="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D639B3-3A19-4450-99D7-6672BB9D8B9E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ftr" idx="5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773400" y="4853880"/>
            <a:ext cx="505044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75880" y="4853880"/>
            <a:ext cx="42336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body"/>
          </p:nvPr>
        </p:nvSpPr>
        <p:spPr>
          <a:xfrm>
            <a:off x="6773400" y="4073040"/>
            <a:ext cx="50504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body"/>
          </p:nvPr>
        </p:nvSpPr>
        <p:spPr>
          <a:xfrm>
            <a:off x="6275880" y="4073040"/>
            <a:ext cx="4233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body"/>
          </p:nvPr>
        </p:nvSpPr>
        <p:spPr>
          <a:xfrm>
            <a:off x="6773400" y="3291120"/>
            <a:ext cx="50504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1" name="PlaceHolder 9"/>
          <p:cNvSpPr>
            <a:spLocks noGrp="1"/>
          </p:cNvSpPr>
          <p:nvPr>
            <p:ph type="body"/>
          </p:nvPr>
        </p:nvSpPr>
        <p:spPr>
          <a:xfrm>
            <a:off x="6275880" y="3291120"/>
            <a:ext cx="4233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2" name="PlaceHolder 10"/>
          <p:cNvSpPr>
            <a:spLocks noGrp="1"/>
          </p:cNvSpPr>
          <p:nvPr>
            <p:ph type="body"/>
          </p:nvPr>
        </p:nvSpPr>
        <p:spPr>
          <a:xfrm>
            <a:off x="6773400" y="2509560"/>
            <a:ext cx="50504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3" name="PlaceHolder 11"/>
          <p:cNvSpPr>
            <a:spLocks noGrp="1"/>
          </p:cNvSpPr>
          <p:nvPr>
            <p:ph type="body"/>
          </p:nvPr>
        </p:nvSpPr>
        <p:spPr>
          <a:xfrm>
            <a:off x="6275880" y="2509560"/>
            <a:ext cx="4233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4" name="PlaceHolder 12"/>
          <p:cNvSpPr>
            <a:spLocks noGrp="1"/>
          </p:cNvSpPr>
          <p:nvPr>
            <p:ph type="body"/>
          </p:nvPr>
        </p:nvSpPr>
        <p:spPr>
          <a:xfrm>
            <a:off x="6773400" y="1728000"/>
            <a:ext cx="505044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5" name="PlaceHolder 13"/>
          <p:cNvSpPr>
            <a:spLocks noGrp="1"/>
          </p:cNvSpPr>
          <p:nvPr>
            <p:ph type="body"/>
          </p:nvPr>
        </p:nvSpPr>
        <p:spPr>
          <a:xfrm>
            <a:off x="6275880" y="1728000"/>
            <a:ext cx="42336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6" name="PlaceHolder 14"/>
          <p:cNvSpPr>
            <a:spLocks noGrp="1"/>
          </p:cNvSpPr>
          <p:nvPr>
            <p:ph type="body"/>
          </p:nvPr>
        </p:nvSpPr>
        <p:spPr>
          <a:xfrm>
            <a:off x="862200" y="4853880"/>
            <a:ext cx="505116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7" name="PlaceHolder 15"/>
          <p:cNvSpPr>
            <a:spLocks noGrp="1"/>
          </p:cNvSpPr>
          <p:nvPr>
            <p:ph type="body"/>
          </p:nvPr>
        </p:nvSpPr>
        <p:spPr>
          <a:xfrm>
            <a:off x="359280" y="4853880"/>
            <a:ext cx="42264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8" name="PlaceHolder 16"/>
          <p:cNvSpPr>
            <a:spLocks noGrp="1"/>
          </p:cNvSpPr>
          <p:nvPr>
            <p:ph type="body"/>
          </p:nvPr>
        </p:nvSpPr>
        <p:spPr>
          <a:xfrm>
            <a:off x="862200" y="4073040"/>
            <a:ext cx="50511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9" name="PlaceHolder 17"/>
          <p:cNvSpPr>
            <a:spLocks noGrp="1"/>
          </p:cNvSpPr>
          <p:nvPr>
            <p:ph type="body"/>
          </p:nvPr>
        </p:nvSpPr>
        <p:spPr>
          <a:xfrm>
            <a:off x="359280" y="4073040"/>
            <a:ext cx="4226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0" name="PlaceHolder 18"/>
          <p:cNvSpPr>
            <a:spLocks noGrp="1"/>
          </p:cNvSpPr>
          <p:nvPr>
            <p:ph type="body"/>
          </p:nvPr>
        </p:nvSpPr>
        <p:spPr>
          <a:xfrm>
            <a:off x="862200" y="3291120"/>
            <a:ext cx="50511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1" name="PlaceHolder 19"/>
          <p:cNvSpPr>
            <a:spLocks noGrp="1"/>
          </p:cNvSpPr>
          <p:nvPr>
            <p:ph type="body"/>
          </p:nvPr>
        </p:nvSpPr>
        <p:spPr>
          <a:xfrm>
            <a:off x="359280" y="3291120"/>
            <a:ext cx="4226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03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2" name="PlaceHolder 20"/>
          <p:cNvSpPr>
            <a:spLocks noGrp="1"/>
          </p:cNvSpPr>
          <p:nvPr>
            <p:ph type="body"/>
          </p:nvPr>
        </p:nvSpPr>
        <p:spPr>
          <a:xfrm>
            <a:off x="862200" y="2509560"/>
            <a:ext cx="50511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3" name="PlaceHolder 21"/>
          <p:cNvSpPr>
            <a:spLocks noGrp="1"/>
          </p:cNvSpPr>
          <p:nvPr>
            <p:ph type="body"/>
          </p:nvPr>
        </p:nvSpPr>
        <p:spPr>
          <a:xfrm>
            <a:off x="359280" y="2509560"/>
            <a:ext cx="4226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02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4" name="PlaceHolder 22"/>
          <p:cNvSpPr>
            <a:spLocks noGrp="1"/>
          </p:cNvSpPr>
          <p:nvPr>
            <p:ph type="body"/>
          </p:nvPr>
        </p:nvSpPr>
        <p:spPr>
          <a:xfrm>
            <a:off x="862200" y="1728000"/>
            <a:ext cx="505116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5" name="PlaceHolder 23"/>
          <p:cNvSpPr>
            <a:spLocks noGrp="1"/>
          </p:cNvSpPr>
          <p:nvPr>
            <p:ph type="body"/>
          </p:nvPr>
        </p:nvSpPr>
        <p:spPr>
          <a:xfrm>
            <a:off x="359280" y="1728000"/>
            <a:ext cx="42264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01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6" name="PlaceHolder 24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Gliederung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8" name="Logo-Fragment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359280" y="1728000"/>
            <a:ext cx="915588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8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2F187C-66EC-430D-B3F7-E3B9E818454B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Logo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89240" cy="685512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title"/>
          </p:nvPr>
        </p:nvSpPr>
        <p:spPr>
          <a:xfrm>
            <a:off x="630000" y="1079640"/>
            <a:ext cx="7398720" cy="3015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9652680" y="622440"/>
            <a:ext cx="1983240" cy="550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55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630000" y="457920"/>
            <a:ext cx="945720" cy="731160"/>
          </a:xfrm>
          <a:prstGeom prst="rect">
            <a:avLst/>
          </a:pr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a:blipFill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00" b="1" u="none" strike="noStrike">
                <a:solidFill>
                  <a:schemeClr val="lt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00" b="1" u="none" strike="noStrike">
                <a:solidFill>
                  <a:schemeClr val="lt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1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11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1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7BC95F-952E-40AB-9D4B-9553A1BB49B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dt" idx="1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ftr" idx="14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sldNum" idx="1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B38534-FC3C-4DE5-87C3-A95D27BF00A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ontakt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59" name="Freihandform: Form 10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60" name="Textfeld 11"/>
          <p:cNvSpPr/>
          <p:nvPr/>
        </p:nvSpPr>
        <p:spPr>
          <a:xfrm>
            <a:off x="360000" y="1891800"/>
            <a:ext cx="7452720" cy="20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Vielen Dank für Ihre </a:t>
            </a:r>
            <a:br>
              <a:rPr sz="1800"/>
            </a:b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Aufmerksamkeit!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body"/>
          </p:nvPr>
        </p:nvSpPr>
        <p:spPr>
          <a:xfrm>
            <a:off x="360000" y="4881240"/>
            <a:ext cx="4628160" cy="12690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1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ontakt Farb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63" name="Textfeld 11"/>
          <p:cNvSpPr/>
          <p:nvPr/>
        </p:nvSpPr>
        <p:spPr>
          <a:xfrm>
            <a:off x="360000" y="1891800"/>
            <a:ext cx="7452720" cy="20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Vielen Dank für deine</a:t>
            </a:r>
            <a:br>
              <a:rPr sz="1800"/>
            </a:b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Aufmerksamkeit!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body"/>
          </p:nvPr>
        </p:nvSpPr>
        <p:spPr>
          <a:xfrm>
            <a:off x="360000" y="4881240"/>
            <a:ext cx="4628160" cy="12682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</p:txBody>
      </p:sp>
      <p:sp>
        <p:nvSpPr>
          <p:cNvPr id="65" name="Freihandform: Form 5"/>
          <p:cNvSpPr/>
          <p:nvPr/>
        </p:nvSpPr>
        <p:spPr>
          <a:xfrm>
            <a:off x="8211960" y="2802240"/>
            <a:ext cx="3987000" cy="4052880"/>
          </a:xfrm>
          <a:custGeom>
            <a:avLst/>
            <a:gdLst>
              <a:gd name="textAreaLeft" fmla="*/ 0 w 3987000"/>
              <a:gd name="textAreaRight" fmla="*/ 1436293800 w 398700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705" h="4055745">
                <a:moveTo>
                  <a:pt x="3989705" y="0"/>
                </a:moveTo>
                <a:lnTo>
                  <a:pt x="3989705" y="2389210"/>
                </a:lnTo>
                <a:lnTo>
                  <a:pt x="3859000" y="2411148"/>
                </a:lnTo>
                <a:cubicBezTo>
                  <a:pt x="2993767" y="2575305"/>
                  <a:pt x="2648265" y="3036008"/>
                  <a:pt x="2529591" y="3871779"/>
                </a:cubicBezTo>
                <a:lnTo>
                  <a:pt x="2508283" y="4055745"/>
                </a:lnTo>
                <a:lnTo>
                  <a:pt x="0" y="4055745"/>
                </a:lnTo>
                <a:lnTo>
                  <a:pt x="22944" y="3788838"/>
                </a:lnTo>
                <a:cubicBezTo>
                  <a:pt x="290771" y="1521853"/>
                  <a:pt x="1510519" y="126892"/>
                  <a:pt x="3885553" y="4661"/>
                </a:cubicBezTo>
                <a:cubicBezTo>
                  <a:pt x="3907463" y="3232"/>
                  <a:pt x="3931933" y="1982"/>
                  <a:pt x="3958371" y="932"/>
                </a:cubicBezTo>
                <a:close/>
              </a:path>
            </a:pathLst>
          </a:custGeom>
          <a:solidFill>
            <a:srgbClr val="EEEDEC">
              <a:alpha val="1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36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pic>
        <p:nvPicPr>
          <p:cNvPr id="66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77400" y="358920"/>
            <a:ext cx="947880" cy="734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Logo Farb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89240" cy="685512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title"/>
          </p:nvPr>
        </p:nvSpPr>
        <p:spPr>
          <a:xfrm>
            <a:off x="630000" y="1079640"/>
            <a:ext cx="7398720" cy="3015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9652680" y="622440"/>
            <a:ext cx="1983240" cy="550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55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folie Statements, Farb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72" name="Freihandform: Form 10"/>
          <p:cNvSpPr/>
          <p:nvPr/>
        </p:nvSpPr>
        <p:spPr>
          <a:xfrm>
            <a:off x="8211960" y="2802240"/>
            <a:ext cx="3987000" cy="4052880"/>
          </a:xfrm>
          <a:custGeom>
            <a:avLst/>
            <a:gdLst>
              <a:gd name="textAreaLeft" fmla="*/ 0 w 3987000"/>
              <a:gd name="textAreaRight" fmla="*/ 1436293800 w 398700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705" h="4055745">
                <a:moveTo>
                  <a:pt x="3989705" y="0"/>
                </a:moveTo>
                <a:lnTo>
                  <a:pt x="3989705" y="2389210"/>
                </a:lnTo>
                <a:lnTo>
                  <a:pt x="3859000" y="2411148"/>
                </a:lnTo>
                <a:cubicBezTo>
                  <a:pt x="2993767" y="2575305"/>
                  <a:pt x="2648265" y="3036008"/>
                  <a:pt x="2529591" y="3871779"/>
                </a:cubicBezTo>
                <a:lnTo>
                  <a:pt x="2508283" y="4055745"/>
                </a:lnTo>
                <a:lnTo>
                  <a:pt x="0" y="4055745"/>
                </a:lnTo>
                <a:lnTo>
                  <a:pt x="22944" y="3788838"/>
                </a:lnTo>
                <a:cubicBezTo>
                  <a:pt x="290771" y="1521853"/>
                  <a:pt x="1510519" y="126892"/>
                  <a:pt x="3885553" y="4661"/>
                </a:cubicBezTo>
                <a:cubicBezTo>
                  <a:pt x="3907463" y="3232"/>
                  <a:pt x="3931933" y="1982"/>
                  <a:pt x="3958371" y="932"/>
                </a:cubicBezTo>
                <a:close/>
              </a:path>
            </a:pathLst>
          </a:custGeom>
          <a:solidFill>
            <a:srgbClr val="EEEDEC">
              <a:alpha val="1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36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60000" y="2329200"/>
            <a:ext cx="11470320" cy="39780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dt" idx="1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ftr" idx="17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sldNum" idx="1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42B8E8-1F17-469A-9C45-29563881DDB2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77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77400" y="358920"/>
            <a:ext cx="947880" cy="734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/2 Text, 1/2 Bild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body"/>
          </p:nvPr>
        </p:nvSpPr>
        <p:spPr>
          <a:xfrm>
            <a:off x="6095880" y="0"/>
            <a:ext cx="6093000" cy="685512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80" name="Zeichen" hidden="1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title"/>
          </p:nvPr>
        </p:nvSpPr>
        <p:spPr>
          <a:xfrm>
            <a:off x="360000" y="358920"/>
            <a:ext cx="536472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367560" y="1728000"/>
            <a:ext cx="536472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dt" idx="1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ftr" idx="20"/>
          </p:nvPr>
        </p:nvSpPr>
        <p:spPr>
          <a:xfrm>
            <a:off x="1319400" y="6356520"/>
            <a:ext cx="441288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 type="sldNum" idx="2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275999-F5BB-4B34-932A-9EDF4CEE8821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7"/>
          <p:cNvSpPr>
            <a:spLocks noGrp="1"/>
          </p:cNvSpPr>
          <p:nvPr>
            <p:ph type="body"/>
          </p:nvPr>
        </p:nvSpPr>
        <p:spPr>
          <a:xfrm>
            <a:off x="10877400" y="358920"/>
            <a:ext cx="947880" cy="734400"/>
          </a:xfrm>
          <a:prstGeom prst="rect">
            <a:avLst/>
          </a:pr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a:blipFill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folie mit Bild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89240" cy="685512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1800" b="1" u="none" strike="noStrike">
                <a:solidFill>
                  <a:schemeClr val="lt1"/>
                </a:solidFill>
                <a:effectLst/>
                <a:uFillTx/>
                <a:latin typeface="SRH Headline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SRH Headline"/>
              </a:rPr>
              <a:t>Click to edit the outline text format</a:t>
            </a:r>
            <a:endParaRPr lang="de-DE" sz="1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title"/>
          </p:nvPr>
        </p:nvSpPr>
        <p:spPr>
          <a:xfrm>
            <a:off x="360000" y="616680"/>
            <a:ext cx="7639920" cy="25142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60000" y="3124800"/>
            <a:ext cx="7639920" cy="25142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rPr>
              <a:t>Mastertextformat bearbeiten</a:t>
            </a:r>
            <a:endParaRPr lang="de-DE" sz="4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ftr" idx="23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sldNum" idx="2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94EC23-C4F0-4655-A2D9-3C94A90FCB66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10877400" y="358920"/>
            <a:ext cx="947880" cy="734400"/>
          </a:xfrm>
          <a:prstGeom prst="rect">
            <a:avLst/>
          </a:pr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a:blipFill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100" b="1" u="none" strike="noStrike">
                <a:solidFill>
                  <a:schemeClr val="lt1"/>
                </a:solidFill>
                <a:effectLst/>
                <a:uFillTx/>
                <a:latin typeface="SRH Headline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100" b="1" u="none" strike="noStrike">
                <a:solidFill>
                  <a:schemeClr val="lt1"/>
                </a:solidFill>
                <a:effectLst/>
                <a:uFillTx/>
                <a:latin typeface="SRH Headline"/>
              </a:rPr>
              <a:t>Click to edit the outline text format</a:t>
            </a:r>
            <a:endParaRPr lang="de-DE" sz="1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folie warm grey">
    <p:bg>
      <p:bgPr>
        <a:solidFill>
          <a:srgbClr val="DDDB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96" name="Freihandform: Form 10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chemeClr val="lt1">
              <a:alpha val="2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360000" y="2191320"/>
            <a:ext cx="9893520" cy="1402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x</a:t>
            </a:r>
            <a:endParaRPr lang="de-DE" sz="4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360000" y="3597120"/>
            <a:ext cx="4252320" cy="2619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rPr>
              <a:t>01</a:t>
            </a:r>
            <a:endParaRPr lang="de-DE" sz="200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dt" idx="2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ftr" idx="26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5"/>
          <p:cNvSpPr>
            <a:spLocks noGrp="1"/>
          </p:cNvSpPr>
          <p:nvPr>
            <p:ph type="sldNum" idx="2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1663A7-0785-498B-AC6D-D083641C2A9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folie farbi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360000" y="2191320"/>
            <a:ext cx="9893520" cy="1402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360000" y="3597120"/>
            <a:ext cx="4252320" cy="2619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20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20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rPr>
              <a:t>01</a:t>
            </a:r>
            <a:endParaRPr lang="de-DE" sz="20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dt" idx="28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 type="ftr" idx="29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 type="sldNum" idx="30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792A75-CBDB-4CC9-A654-63DA86EC643E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08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77400" y="358920"/>
            <a:ext cx="947880" cy="73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Freihandform: Form 8"/>
          <p:cNvSpPr/>
          <p:nvPr/>
        </p:nvSpPr>
        <p:spPr>
          <a:xfrm>
            <a:off x="8211960" y="2802240"/>
            <a:ext cx="3987000" cy="4052880"/>
          </a:xfrm>
          <a:custGeom>
            <a:avLst/>
            <a:gdLst>
              <a:gd name="textAreaLeft" fmla="*/ 0 w 3987000"/>
              <a:gd name="textAreaRight" fmla="*/ 1436293800 w 398700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705" h="4055745">
                <a:moveTo>
                  <a:pt x="3989705" y="0"/>
                </a:moveTo>
                <a:lnTo>
                  <a:pt x="3989705" y="2389210"/>
                </a:lnTo>
                <a:lnTo>
                  <a:pt x="3859000" y="2411148"/>
                </a:lnTo>
                <a:cubicBezTo>
                  <a:pt x="2993767" y="2575305"/>
                  <a:pt x="2648265" y="3036008"/>
                  <a:pt x="2529591" y="3871779"/>
                </a:cubicBezTo>
                <a:lnTo>
                  <a:pt x="2508283" y="4055745"/>
                </a:lnTo>
                <a:lnTo>
                  <a:pt x="0" y="4055745"/>
                </a:lnTo>
                <a:lnTo>
                  <a:pt x="22944" y="3788838"/>
                </a:lnTo>
                <a:cubicBezTo>
                  <a:pt x="290771" y="1521853"/>
                  <a:pt x="1510519" y="126892"/>
                  <a:pt x="3885553" y="4661"/>
                </a:cubicBezTo>
                <a:cubicBezTo>
                  <a:pt x="3907463" y="3232"/>
                  <a:pt x="3931933" y="1982"/>
                  <a:pt x="3958371" y="932"/>
                </a:cubicBezTo>
                <a:close/>
              </a:path>
            </a:pathLst>
          </a:custGeom>
          <a:solidFill>
            <a:srgbClr val="EEEDEC">
              <a:alpha val="1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36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folie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11" name="Freihandform: Form 10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360000" y="2191320"/>
            <a:ext cx="9893520" cy="1402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360000" y="3597120"/>
            <a:ext cx="4252320" cy="2619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rPr>
              <a:t>01</a:t>
            </a:r>
            <a:endParaRPr lang="de-DE" sz="200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dt" idx="3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 type="ftr" idx="32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 type="sldNum" idx="3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908E6E-8049-4F61-AAAF-20E9DD9C240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folie Statements,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18" name="Freihandform: Form 10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360000" y="2329200"/>
            <a:ext cx="11470320" cy="39780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dt" idx="34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ftr" idx="35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 type="sldNum" idx="36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4BC54D-D14B-4CEE-8024-4D32AA1A370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auf weis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9155880" cy="2323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dt" idx="3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 type="ftr" idx="38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 type="sldNum" idx="3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4F7981-7110-4D3C-9792-1A6F1F7DED1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9155880" cy="778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30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9155880" cy="4917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und Text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32" name="Rechteck 13"/>
          <p:cNvSpPr/>
          <p:nvPr/>
        </p:nvSpPr>
        <p:spPr>
          <a:xfrm>
            <a:off x="0" y="1405800"/>
            <a:ext cx="12189240" cy="544932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7525800" cy="2323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dt" idx="4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ftr" idx="41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5"/>
          <p:cNvSpPr>
            <a:spLocks noGrp="1"/>
          </p:cNvSpPr>
          <p:nvPr>
            <p:ph type="sldNum" idx="4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134DC6-9BC5-4E68-831E-1A82C10506E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7525800" cy="778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39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7525800" cy="490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40" name="PlaceHolder 8"/>
          <p:cNvSpPr>
            <a:spLocks noGrp="1"/>
          </p:cNvSpPr>
          <p:nvPr>
            <p:ph type="body"/>
          </p:nvPr>
        </p:nvSpPr>
        <p:spPr>
          <a:xfrm>
            <a:off x="8248680" y="1728000"/>
            <a:ext cx="358164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/3 Text, 1/3 Bild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42" name="Zeichen" hidden="1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6272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367560" y="1728000"/>
            <a:ext cx="751752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dt" idx="4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ftr" idx="44"/>
          </p:nvPr>
        </p:nvSpPr>
        <p:spPr>
          <a:xfrm>
            <a:off x="1319400" y="6356520"/>
            <a:ext cx="441288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5"/>
          <p:cNvSpPr>
            <a:spLocks noGrp="1"/>
          </p:cNvSpPr>
          <p:nvPr>
            <p:ph type="sldNum" idx="4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5DA845-AABE-44E9-B07C-2278593193BC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6"/>
          <p:cNvSpPr>
            <a:spLocks noGrp="1"/>
          </p:cNvSpPr>
          <p:nvPr>
            <p:ph type="body"/>
          </p:nvPr>
        </p:nvSpPr>
        <p:spPr>
          <a:xfrm>
            <a:off x="8247960" y="1728000"/>
            <a:ext cx="3581640" cy="422748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2/3 Text, 1/3 Bild im Anschnit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50" name="Zeichen" hidden="1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6272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367560" y="1728000"/>
            <a:ext cx="751752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dt" idx="4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 type="ftr" idx="47"/>
          </p:nvPr>
        </p:nvSpPr>
        <p:spPr>
          <a:xfrm>
            <a:off x="1319400" y="6356520"/>
            <a:ext cx="441288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PlaceHolder 5"/>
          <p:cNvSpPr>
            <a:spLocks noGrp="1"/>
          </p:cNvSpPr>
          <p:nvPr>
            <p:ph type="sldNum" idx="4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08FC07-12F1-4ABD-8887-8FD4B958484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PlaceHolder 6"/>
          <p:cNvSpPr>
            <a:spLocks noGrp="1"/>
          </p:cNvSpPr>
          <p:nvPr>
            <p:ph type="body"/>
          </p:nvPr>
        </p:nvSpPr>
        <p:spPr>
          <a:xfrm>
            <a:off x="8247960" y="1728000"/>
            <a:ext cx="3941280" cy="422748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/1 Inhalt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58" name="Rechteck 9"/>
          <p:cNvSpPr/>
          <p:nvPr/>
        </p:nvSpPr>
        <p:spPr>
          <a:xfrm>
            <a:off x="0" y="1405800"/>
            <a:ext cx="12189240" cy="544932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159" name="Freihandform: Form 28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6E3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588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359280" y="1728000"/>
            <a:ext cx="915588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dt" idx="4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 type="ftr" idx="50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 type="sldNum" idx="5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15A17E-F859-4BE5-8687-4C40C077D6DD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me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66" name="Rechteck 13"/>
          <p:cNvSpPr/>
          <p:nvPr/>
        </p:nvSpPr>
        <p:spPr>
          <a:xfrm>
            <a:off x="0" y="1405800"/>
            <a:ext cx="12189240" cy="544932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2048040" y="1943640"/>
            <a:ext cx="3865680" cy="3201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dt" idx="5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ftr" idx="53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5"/>
          <p:cNvSpPr>
            <a:spLocks noGrp="1"/>
          </p:cNvSpPr>
          <p:nvPr>
            <p:ph type="sldNum" idx="5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C7282D-E056-4FD3-83C0-432FEF30901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PlaceHolder 6"/>
          <p:cNvSpPr>
            <a:spLocks noGrp="1"/>
          </p:cNvSpPr>
          <p:nvPr>
            <p:ph type="body"/>
          </p:nvPr>
        </p:nvSpPr>
        <p:spPr>
          <a:xfrm>
            <a:off x="2048040" y="5212800"/>
            <a:ext cx="3865680" cy="7362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ctr" defTabSz="914400">
              <a:lnSpc>
                <a:spcPct val="11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ct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73" name="PlaceHolder 7"/>
          <p:cNvSpPr>
            <a:spLocks noGrp="1"/>
          </p:cNvSpPr>
          <p:nvPr>
            <p:ph type="body"/>
          </p:nvPr>
        </p:nvSpPr>
        <p:spPr>
          <a:xfrm>
            <a:off x="6275880" y="5212800"/>
            <a:ext cx="3865680" cy="7362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ctr" defTabSz="914400">
              <a:lnSpc>
                <a:spcPct val="11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ct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74" name="PlaceHolder 8"/>
          <p:cNvSpPr>
            <a:spLocks noGrp="1"/>
          </p:cNvSpPr>
          <p:nvPr>
            <p:ph type="body"/>
          </p:nvPr>
        </p:nvSpPr>
        <p:spPr>
          <a:xfrm>
            <a:off x="6275880" y="1943640"/>
            <a:ext cx="3865680" cy="3201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76" name="Rechteck 13"/>
          <p:cNvSpPr/>
          <p:nvPr/>
        </p:nvSpPr>
        <p:spPr>
          <a:xfrm>
            <a:off x="0" y="1405800"/>
            <a:ext cx="12189240" cy="544932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9155880" cy="2323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dt" idx="5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&lt;date/time&gt;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ftr" idx="56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&lt;footer&gt;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 type="sldNum" idx="5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3916C4-4AF0-4AF5-8F9F-AFDD741D9471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9155880" cy="778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9155880" cy="4917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6.emf"/><Relationship Id="rId2" Type="http://schemas.openxmlformats.org/officeDocument/2006/relationships/image" Target="../media/image27.emf"/><Relationship Id="rId3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299880" y="1143000"/>
            <a:ext cx="11253600" cy="1702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ctr"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A Reliability-Aware Decision Framework for Cost-Sensitive Selective Prediction in Credit Risk under Distribution Shift </a:t>
            </a:r>
            <a:br>
              <a:rPr sz="4000"/>
            </a:br>
            <a:endParaRPr lang="de-DE" sz="4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85" name="object 12"/>
          <p:cNvSpPr/>
          <p:nvPr/>
        </p:nvSpPr>
        <p:spPr>
          <a:xfrm rot="21561000">
            <a:off x="448560" y="4150800"/>
            <a:ext cx="6417360" cy="201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12600" rIns="0" bIns="0" anchor="t">
            <a:noAutofit/>
          </a:bodyPr>
          <a:p>
            <a:pPr marL="12600" defTabSz="914400">
              <a:lnSpc>
                <a:spcPct val="100000"/>
              </a:lnSpc>
              <a:spcBef>
                <a:spcPts val="3345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Amin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RH"/>
                <a:ea typeface="SRH"/>
              </a:rPr>
              <a:t>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Feli (11038701)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00000"/>
              </a:lnSpc>
              <a:spcBef>
                <a:spcPts val="3345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Supervisor: Prof . Dr. Mehrdad Jalali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00000"/>
              </a:lnSpc>
              <a:spcBef>
                <a:spcPts val="3345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SRH Hochschule Heidelberg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50000"/>
              </a:lnSpc>
              <a:spcBef>
                <a:spcPts val="3345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dt" idx="58"/>
          </p:nvPr>
        </p:nvSpPr>
        <p:spPr>
          <a:xfrm>
            <a:off x="172080" y="6231960"/>
            <a:ext cx="87228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687DC9A-3859-47DC-B186-4C53116217A1}" type="datetime1"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ftr" idx="59"/>
          </p:nvPr>
        </p:nvSpPr>
        <p:spPr>
          <a:xfrm>
            <a:off x="1133640" y="6285240"/>
            <a:ext cx="649260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SRH Hochschule Heidelberg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sldNum" idx="60"/>
          </p:nvPr>
        </p:nvSpPr>
        <p:spPr>
          <a:xfrm>
            <a:off x="11058480" y="6311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7AF2AA-1BFF-4814-850F-98210CBBD38D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Introduction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276840" y="914400"/>
            <a:ext cx="1080288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What is Credit Risk?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risk is a fundamental task in finance and banking, designed to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estimate the likelihood that a borrower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will default on a loan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or fail to meet contractual debt obligations.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Why is Credit Risk Prediction Important?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Banks make decisions based on information about applicants, such as their occupation_status , credit history, and credit_score .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Machine Learning (ML) models can learn patterns from historical data and estimate the probability that an applicant will default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. refine it in the simple way.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    A reliable prediction system can help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to: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Reduce losses from unpaid loans.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Make better lending decisions.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Manage money and capital more efficiently.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dt" idx="6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5260C9A-7635-4EB4-A9D0-9DA7776E2969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PlaceHolder 4"/>
          <p:cNvSpPr>
            <a:spLocks noGrp="1"/>
          </p:cNvSpPr>
          <p:nvPr>
            <p:ph type="ftr" idx="62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5"/>
          <p:cNvSpPr>
            <a:spLocks noGrp="1"/>
          </p:cNvSpPr>
          <p:nvPr>
            <p:ph type="sldNum" idx="6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0CEA61-30FA-468A-9366-931FE9158840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160" cy="609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Problem Statement: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276840" y="741600"/>
            <a:ext cx="11609280" cy="59490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Static decision thresholds: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many systems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rely on a fixed decision threshold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, commonly 0.5, which does not adequately reflect the changing financial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trade-offs between false positives and false negatives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 This can lead to suboptimal lending decisions under different risk and cost conditions.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Fixed cost-sensitive learning: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Although cost-sensitive learning is widely used to account for the unequal consequences of classification errors,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penalty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structures are generally predefined and fixed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 They therefore lack the flexibility to adapt to changing business constraints, operational conditions, and risk preferences.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Lack of selective prediction: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Conventional credit risk models typically provide deterministic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binary predictions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without explicitly quantifying prediction uncertainty. Consequently, they may automatically make decisions for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ambiguous cases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where the model is insufficiently confident and human intervention would be more appropriate.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distribution shift:</a:t>
            </a:r>
            <a:r>
              <a:rPr lang="de-DE" sz="13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Most credit risk models are developed and evaluated under the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assumption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that the underlying data distribution remains relatively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stable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In real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banking environments, however,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economic conditions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,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customer behavior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, and credit patterns continuously change, resulting in data distribution shifts that can reduce model performance and reliability over time.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Lack of continuous reliability monitoring:</a:t>
            </a:r>
            <a:r>
              <a:rPr lang="de-DE" sz="13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Existing approaches often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evaluate model performance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periodically rather than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continuously after deployment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dt" idx="64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B3FF9C1-C2CD-4CE9-8C22-89CA27F1256C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ftr" idx="65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sldNum" idx="66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0A739D-FC1A-4479-B313-44742464666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Table of Content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276840" y="987480"/>
            <a:ext cx="1080288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lvl="1" indent="-360000" algn="l" defTabSz="914400">
              <a:lnSpc>
                <a:spcPct val="15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Introduction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Problem Statement 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Methodology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Data Preprocessing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Exploratory Data Analysis (EDA)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Model Explainability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Selective Prediction / Risk-Based Decision System 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Model Monitoring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Results &amp; Key Findings 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dt" idx="6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783E6E4-9CE1-4C4C-A248-AE1B6C7CAD2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ftr" idx="68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 type="sldNum" idx="6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5B430C-CF69-4D3C-8F1E-018017CE6ABF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Dataset &amp; Data Description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276840" y="1143000"/>
            <a:ext cx="10802880" cy="55476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indent="0" algn="just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Dataset Overview 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This dataset contains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50,000 loan application records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with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20 features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 describing applicants' demographic characteristics, employment and financial status, credit history, and loan information. It is designed for credit risk assessment and loan outcome prediction using machine learning methods.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dataset includes information such as age, occupation status, employment history, annual income, credit score, savings, debt, previous defaults, delinquencies, loan amount, interest rate, and several financial ratios.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dataset also contains categorical variables describing the applicant's employment status, product type, and loan intent, together with numerical variables representing the applicant's financial and credit characteristics.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target variable,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loan_status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, represents the loan outcome: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0 = Rejected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1 = Approved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dt" idx="7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5BE6BC2-F75C-42FE-81E5-4CFF9EF29B65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ftr" idx="71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PlaceHolder 5"/>
          <p:cNvSpPr>
            <a:spLocks noGrp="1"/>
          </p:cNvSpPr>
          <p:nvPr>
            <p:ph type="sldNum" idx="7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4992EA-A9DA-4161-8D3F-EA58A41A322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Data Processing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80288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Checking Corrupted Rows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The purpose of this step was to identify invalid, corrupted, or logically inconsistent records before applying machine learning models.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The code performed the following validation processes: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Range Validation:</a:t>
            </a: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Checked realistic ranges for age, credit score, employment, and credit history.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Negative Values: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Detected invalid negative values in financial and credit variables.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Ratio Validation: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Verified Debt-to-Income Ratio, Loan-to-Income Ratio, and payment-to-income ratios.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Text Validation: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Used Regex to identify malformed categorical values and validated loan_status.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dt" idx="7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781D931-D7DD-407C-BB7E-A23B797BDBAA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 type="ftr" idx="74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 type="sldNum" idx="7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F680BC-CAD8-4011-A651-04C59C3A2E5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228600" y="457200"/>
            <a:ext cx="10802880" cy="594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Data Type Standardization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Ensured all key numerical variables use consistent data types.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Missing Value Analysis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Identified missing values that could affect model performance.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Categorical Data Consistency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Examined categorical variables for inconsistent labels.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Identified potential duplicates such as “Male” and “male.”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Duplicate Records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dataset was checked for duplicated observations.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dt" idx="7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899A7CF-166D-47F1-8E6A-5018FAFA1A6C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PlaceHolder 4"/>
          <p:cNvSpPr>
            <a:spLocks noGrp="1"/>
          </p:cNvSpPr>
          <p:nvPr>
            <p:ph type="ftr" idx="77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PlaceHolder 5"/>
          <p:cNvSpPr>
            <a:spLocks noGrp="1"/>
          </p:cNvSpPr>
          <p:nvPr>
            <p:ph type="sldNum" idx="7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154E48-690E-4229-9C08-C60ED596C6BC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Picture 1"/>
          <p:cNvPicPr/>
          <p:nvPr/>
        </p:nvPicPr>
        <p:blipFill>
          <a:blip r:embed="rId1"/>
          <a:stretch/>
        </p:blipFill>
        <p:spPr>
          <a:xfrm>
            <a:off x="1706760" y="1076760"/>
            <a:ext cx="8569080" cy="517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Exploratory Data Analysis (EDA)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525672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Statistical Overview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study uses a real-world dataset containing loan application records. This includes: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👤 Applicant Characteristics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Age: 18–70 years, with a mean of 35.0 years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Years employed: 0–39.9 years, with a mean of 7.45 years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Annual income: €15,000–€250,000, with a mean of approximately €50,063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Credit score: 348–850, with a mean of 643.6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dt" idx="7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109DC6C-3C17-44CE-8BDC-6E499F1EB011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 type="ftr" idx="80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sldNum" idx="8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DBF6A2-5387-4A97-AEE5-C414360A886C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PlaceHolder 151"/>
          <p:cNvSpPr/>
          <p:nvPr/>
        </p:nvSpPr>
        <p:spPr>
          <a:xfrm>
            <a:off x="6348960" y="1272960"/>
            <a:ext cx="5256720" cy="53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Key features: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Numerical: income, debt-to-income ratio, credit history length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Categorical: job type, education, residence status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Derived: risk score, monthly debt obligations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Outlier Analysis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1080288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Most variables contained normal-range observations with some outliers.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highest number of </a:t>
            </a: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normal outliers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 was found in: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Savings assets: 6,508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Current debt: 2,932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Annual income: 2,355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Years employed: 1,373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Extreme outliers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 were mainly observed in: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Savings assets: 4,353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Current debt: 859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Annual income: 515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No extreme outliers were detected in age, credit score, loan amount, interest rate, or the ratio variables.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dt" idx="8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5499CB5-4B92-497F-9BAC-916762922E2F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ftr" idx="83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sldNum" idx="8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E86963-F954-4566-B98F-18530BEA3DE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1" name=""/>
          <p:cNvPicPr/>
          <p:nvPr/>
        </p:nvPicPr>
        <p:blipFill>
          <a:blip r:embed="rId1"/>
          <a:stretch/>
        </p:blipFill>
        <p:spPr>
          <a:xfrm>
            <a:off x="4800600" y="1828800"/>
            <a:ext cx="7037640" cy="4342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Distribution &amp; Skewness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80288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Transformation Strategy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Highly Skewed Features → Log Transformation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Compresses extreme values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Reduces right-skewness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Produces more stable distributions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Continuous Features → StandardScaler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Centers features around zero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Normalizes the scale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Prevents large-scale variables from dominating model training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dt" idx="8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7082563-F3C8-428A-8A67-5202B0C238EE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PlaceHolder 4"/>
          <p:cNvSpPr>
            <a:spLocks noGrp="1"/>
          </p:cNvSpPr>
          <p:nvPr>
            <p:ph type="ftr" idx="86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PlaceHolder 5"/>
          <p:cNvSpPr>
            <a:spLocks noGrp="1"/>
          </p:cNvSpPr>
          <p:nvPr>
            <p:ph type="sldNum" idx="8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D0AE9C-C35D-4A99-8DC0-63D717C635C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7" name=""/>
          <p:cNvPicPr/>
          <p:nvPr/>
        </p:nvPicPr>
        <p:blipFill>
          <a:blip r:embed="rId1"/>
          <a:stretch/>
        </p:blipFill>
        <p:spPr>
          <a:xfrm>
            <a:off x="5832720" y="1371600"/>
            <a:ext cx="5367600" cy="457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Distribution &amp; Skewness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32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Effect of Log Transformation on Skewness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dt" idx="88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38CE9BF-2914-40DA-A570-BD8468791A47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PlaceHolder 4"/>
          <p:cNvSpPr>
            <a:spLocks noGrp="1"/>
          </p:cNvSpPr>
          <p:nvPr>
            <p:ph type="ftr" idx="89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PlaceHolder 5"/>
          <p:cNvSpPr>
            <a:spLocks noGrp="1"/>
          </p:cNvSpPr>
          <p:nvPr>
            <p:ph type="sldNum" idx="90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525355-171E-4267-B46E-CFF43267703D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3" name=""/>
          <p:cNvPicPr/>
          <p:nvPr/>
        </p:nvPicPr>
        <p:blipFill>
          <a:blip r:embed="rId1"/>
          <a:stretch/>
        </p:blipFill>
        <p:spPr>
          <a:xfrm>
            <a:off x="457200" y="1600200"/>
            <a:ext cx="8001000" cy="236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Correlation Analysis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80288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Spearman rank correlation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(ρ) was used to examine relationships between the engineered numerical features and the target variable.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Important Feature Relationships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Some predictors also show relatively strong correlations with each other: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Loan-to-Income ↔ Payment-to-Income: ρ = 0.815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 Amount ↔ Loan-to-Income: ρ = 0.755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Current Debt ↔ Debt-to-Income: ρ = 0.716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Age ↔ Credit History: ρ = 0.664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Annual Income ↔ Current Debt: ρ = 0.657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dt" idx="9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3E2AA9D-CDC3-4496-AD7D-8431FA459901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4"/>
          <p:cNvSpPr>
            <a:spLocks noGrp="1"/>
          </p:cNvSpPr>
          <p:nvPr>
            <p:ph type="ftr" idx="92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PlaceHolder 5"/>
          <p:cNvSpPr>
            <a:spLocks noGrp="1"/>
          </p:cNvSpPr>
          <p:nvPr>
            <p:ph type="sldNum" idx="9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16CEB6-323C-4779-831F-FB818317070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9" name=""/>
          <p:cNvPicPr/>
          <p:nvPr/>
        </p:nvPicPr>
        <p:blipFill>
          <a:blip r:embed="rId1"/>
          <a:stretch/>
        </p:blipFill>
        <p:spPr>
          <a:xfrm>
            <a:off x="6071400" y="1600200"/>
            <a:ext cx="6075000" cy="476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Correlation Analysis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600200" y="914400"/>
            <a:ext cx="8457120" cy="570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PlaceHolder 2"/>
          <p:cNvSpPr>
            <a:spLocks noGrp="1"/>
          </p:cNvSpPr>
          <p:nvPr>
            <p:ph type="dt" idx="94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54F2657-9548-4B56-A086-385BEF896DF0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ftr" idx="95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sldNum" idx="96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0FAF05-58F4-400C-914A-D222A888968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Feature Importance</a:t>
            </a: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 — XGBoost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479952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XGBoost was used to identify the most influential features for credit-risk prediction.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most important features were: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score: 22.8%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Delinquencies: 14.9%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Debt-to-income ratio: 14.2%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No features had importance below 0.02,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so no feature was removed based on this criterion.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dt" idx="9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9B74521-B701-420E-B709-3ACEDCC79084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PlaceHolder 4"/>
          <p:cNvSpPr>
            <a:spLocks noGrp="1"/>
          </p:cNvSpPr>
          <p:nvPr>
            <p:ph type="ftr" idx="98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5"/>
          <p:cNvSpPr>
            <a:spLocks noGrp="1"/>
          </p:cNvSpPr>
          <p:nvPr>
            <p:ph type="sldNum" idx="9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434275-5011-4593-9B4F-D428EFCFDEB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0" name=""/>
          <p:cNvPicPr/>
          <p:nvPr/>
        </p:nvPicPr>
        <p:blipFill>
          <a:blip r:embed="rId1"/>
          <a:stretch/>
        </p:blipFill>
        <p:spPr>
          <a:xfrm>
            <a:off x="4755240" y="1600200"/>
            <a:ext cx="7169040" cy="388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Permutation Feature Importance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51452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 method to measure the importance of each feature in a machine learning model.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Idea: Randomly shuffle a feature’s values and see how the model performance changes.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How it works: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Train the model on the data and calculate </a:t>
            </a: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baseline performance</a:t>
            </a: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(e.g., accuracy, R²).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For each feature: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Shuffle its values randomly.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Re-evaluate the model performance.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Compare performance: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Big drop in performance → feature is very important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Little or no change → feature is less important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dt" idx="10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A30C91B-0634-4F36-A33C-4A9A522B43CD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 type="ftr" idx="101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 type="sldNum" idx="10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3EC680-54EC-4983-A170-BBADFC17DC8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Permutation Importance Analysis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617112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Permutation importance was used to measure the actual impact of each feature on model performance.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most influential features were: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score: 0.177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Debt-to-income ratio: 0.112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Loan-to-income ratio: 0.033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Features such as annual income and savings assets showed almost no impact.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Negative or near-zero importance indicates that shuffling these features did not improve or slightly improved—model performance.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dt" idx="10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29931FC-12DD-4C77-9712-F29B322CCA3B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ftr" idx="104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sldNum" idx="10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26EBA0-A469-4F02-90AE-DD1C085D57CE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1" name=""/>
          <p:cNvPicPr/>
          <p:nvPr/>
        </p:nvPicPr>
        <p:blipFill>
          <a:blip r:embed="rId1"/>
          <a:stretch/>
        </p:blipFill>
        <p:spPr>
          <a:xfrm>
            <a:off x="6406920" y="2044800"/>
            <a:ext cx="5412600" cy="2742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SHAP-Based Feature Importance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617112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SHAP was used to measure how strongly each feature contributes to the model's predictions.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most influential features were: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score: 1.477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Debt-to-income ratio: 1.294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history: 0.676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Loan-to-income ratio: 0.566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Delinquencies: 0.557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Savings assets, payment-to-income ratio, and current debt had relatively low contributions.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Based on the SHAP results, low-impact features were considered for removal to simplify the model.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dt" idx="10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DBF51B1-703C-4FFF-B5FC-533514C418A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 type="ftr" idx="107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 type="sldNum" idx="10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0075A5-9A02-4E5C-B420-4E03B1A59925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7" name=""/>
          <p:cNvPicPr/>
          <p:nvPr/>
        </p:nvPicPr>
        <p:blipFill>
          <a:blip r:embed="rId1"/>
          <a:stretch/>
        </p:blipFill>
        <p:spPr>
          <a:xfrm>
            <a:off x="7086600" y="914400"/>
            <a:ext cx="4403160" cy="548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Related Articles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pic>
        <p:nvPicPr>
          <p:cNvPr id="279" name=""/>
          <p:cNvPicPr/>
          <p:nvPr/>
        </p:nvPicPr>
        <p:blipFill>
          <a:blip r:embed="rId1"/>
          <a:stretch/>
        </p:blipFill>
        <p:spPr>
          <a:xfrm>
            <a:off x="2971800" y="3344400"/>
            <a:ext cx="5485680" cy="32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PlaceHolder 2"/>
          <p:cNvSpPr>
            <a:spLocks noGrp="1"/>
          </p:cNvSpPr>
          <p:nvPr>
            <p:ph type="dt" idx="10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166E934-F4DA-41C4-AB9F-F289FE17EEAE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ftr" idx="110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PlaceHolder 4"/>
          <p:cNvSpPr>
            <a:spLocks noGrp="1"/>
          </p:cNvSpPr>
          <p:nvPr>
            <p:ph type="sldNum" idx="11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365CBD-89D5-48A3-BD52-D5FA39A7DE8E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3" name=""/>
          <p:cNvPicPr/>
          <p:nvPr/>
        </p:nvPicPr>
        <p:blipFill>
          <a:blip r:embed="rId2"/>
          <a:stretch/>
        </p:blipFill>
        <p:spPr>
          <a:xfrm>
            <a:off x="3200400" y="829800"/>
            <a:ext cx="5485680" cy="242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191880" y="538560"/>
            <a:ext cx="9155160" cy="603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br>
              <a:rPr sz="2600"/>
            </a:b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 </a:t>
            </a:r>
            <a:br>
              <a:rPr sz="2600"/>
            </a:b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   Class Imbalance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/>
          </p:nvPr>
        </p:nvSpPr>
        <p:spPr>
          <a:xfrm>
            <a:off x="228600" y="1333800"/>
            <a:ext cx="10802880" cy="5065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distribution of the target variable was examined to determine whether the dataset contains a significant class imbalance and whether imbalance-handling techniques are required.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11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0442120-54CC-47DA-A25E-265FBDD54DB4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ftr" idx="113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sldNum" idx="11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B6CED7-2B2E-4C40-A022-BB56C5F26528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9" name=""/>
          <p:cNvPicPr/>
          <p:nvPr/>
        </p:nvPicPr>
        <p:blipFill>
          <a:blip r:embed="rId1"/>
          <a:stretch/>
        </p:blipFill>
        <p:spPr>
          <a:xfrm>
            <a:off x="8229960" y="1600560"/>
            <a:ext cx="2971080" cy="457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0" name=""/>
          <p:cNvPicPr/>
          <p:nvPr/>
        </p:nvPicPr>
        <p:blipFill>
          <a:blip r:embed="rId2"/>
          <a:stretch/>
        </p:blipFill>
        <p:spPr>
          <a:xfrm>
            <a:off x="99720" y="2020320"/>
            <a:ext cx="6757920" cy="23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191880" y="228600"/>
            <a:ext cx="9155160" cy="685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rgbClr val="FF0000"/>
                </a:solidFill>
                <a:effectLst/>
                <a:uFillTx/>
                <a:latin typeface="SRH Headline"/>
                <a:ea typeface="SRH Headline"/>
              </a:rPr>
              <a:t>Methods for Handling Class Imbalance</a:t>
            </a:r>
            <a:br>
              <a:rPr sz="1800"/>
            </a:br>
            <a:endParaRPr lang="de-DE" sz="1800" b="1" u="none" strike="noStrike">
              <a:solidFill>
                <a:srgbClr val="FF0000"/>
              </a:solidFill>
              <a:effectLst/>
              <a:uFillTx/>
              <a:latin typeface="SRH Headline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320" cy="6856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Symbol" charset="2"/>
              <a:buChar char=""/>
              <a:tabLst>
                <a:tab pos="0" algn="l"/>
              </a:tabLst>
            </a:pPr>
            <a:r>
              <a:rPr lang="en-US" sz="14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Random Oversampling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Duplicates minority-class samples to increase their representation.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Symbol" charset="2"/>
              <a:buChar char=""/>
              <a:tabLst>
                <a:tab pos="0" algn="l"/>
              </a:tabLst>
            </a:pPr>
            <a:r>
              <a:rPr lang="en-US" sz="14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SMOTE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Generates synthetic minority-class samples instead of simply duplicating them.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1C1C1C"/>
              </a:buClr>
              <a:buFont typeface="Symbol" charset="2"/>
              <a:buChar char=""/>
              <a:tabLst>
                <a:tab pos="0" algn="l"/>
              </a:tabLst>
            </a:pPr>
            <a:r>
              <a:rPr lang="en-US" sz="14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Cost-Sensitive Learning (CSL)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Assigns higher importance/cost to minority-class errors during model training.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dt" idx="11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6A48DD6-F872-4A05-8979-9E746F28457E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ftr" idx="116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PlaceHolder 5"/>
          <p:cNvSpPr>
            <a:spLocks noGrp="1"/>
          </p:cNvSpPr>
          <p:nvPr>
            <p:ph type="sldNum" idx="11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04F37-E0B3-4D46-B1F1-B60B0BCFBDC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191880" y="228600"/>
            <a:ext cx="9155160" cy="685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br>
              <a:rPr sz="1800"/>
            </a:br>
            <a:r>
              <a:rPr lang="de-DE" sz="18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Machine Learning Model Development </a:t>
            </a:r>
            <a:br>
              <a:rPr sz="1800"/>
            </a:b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320" cy="6856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Algorithm: XGBoost (Extreme Gradient Boosting)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Data Split: </a:t>
            </a:r>
            <a:r>
              <a:rPr lang="en-US" sz="14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80% Training | 10% Validation | 10% Test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Class Imbalance: Class weights applied during training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Hyperparameter Optimization: Grid Search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n_estimators: [200, 300, 400, 500,600,700]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learning_rate: [0.03, 0.05, 0.07, 0.1 ,0.2, 0.3]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max_depth: [3, 4, 5, 6,7,8]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min_child_weight: [1, 3, 5, 7, 9]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Total: 1080 XGBoost configurations evaluated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dt" idx="118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633888E-BE1E-4E78-959C-E74E0ED18723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PlaceHolder 4"/>
          <p:cNvSpPr>
            <a:spLocks noGrp="1"/>
          </p:cNvSpPr>
          <p:nvPr>
            <p:ph type="ftr" idx="119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PlaceHolder 5"/>
          <p:cNvSpPr>
            <a:spLocks noGrp="1"/>
          </p:cNvSpPr>
          <p:nvPr>
            <p:ph type="sldNum" idx="120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5A3986-AF2A-473E-AFE0-8E05187ABBB0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4570920" cy="54748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Find optimal threshold: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Standard approach → Fixed threshold = 0.50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Proposed approach → Optimize the decision threshold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Tested thresholds: (0.15, 0.6, 0.01)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Business cost function: prioritize low FN, penalize FP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Cost = 2.5 × FN + FP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p(default)&lt; 0.50-→ Approved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p(default)&gt; 0.50-→ Rejected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dt" idx="12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076F6F6-8B31-49D5-9450-39C2271C2449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 type="ftr" idx="122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PlaceHolder 5"/>
          <p:cNvSpPr>
            <a:spLocks noGrp="1"/>
          </p:cNvSpPr>
          <p:nvPr>
            <p:ph type="sldNum" idx="12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71AF7C-68CE-4BF7-A018-FE6CA4AF8CB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6" name=""/>
          <p:cNvPicPr/>
          <p:nvPr/>
        </p:nvPicPr>
        <p:blipFill>
          <a:blip r:embed="rId1"/>
          <a:stretch/>
        </p:blipFill>
        <p:spPr>
          <a:xfrm>
            <a:off x="8458200" y="1334160"/>
            <a:ext cx="3016080" cy="346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PlaceHolder 6"/>
          <p:cNvSpPr/>
          <p:nvPr/>
        </p:nvSpPr>
        <p:spPr>
          <a:xfrm>
            <a:off x="4764960" y="624960"/>
            <a:ext cx="3463920" cy="48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Each model was evaluated using: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AUC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Negatives (FN)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Positives (FP)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Error balance:FP/FN Ratio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Minimum Business Cost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pic>
        <p:nvPicPr>
          <p:cNvPr id="309" name=""/>
          <p:cNvPicPr/>
          <p:nvPr/>
        </p:nvPicPr>
        <p:blipFill>
          <a:blip r:embed="rId1"/>
          <a:stretch/>
        </p:blipFill>
        <p:spPr>
          <a:xfrm>
            <a:off x="1618200" y="696240"/>
            <a:ext cx="7524720" cy="550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0" name="PlaceHolder 2"/>
          <p:cNvSpPr>
            <a:spLocks noGrp="1"/>
          </p:cNvSpPr>
          <p:nvPr>
            <p:ph type="dt" idx="124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F2454C9-6D8B-46FC-BAF2-74AE8BAF4A47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ftr" idx="125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 type="sldNum" idx="126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00BA4D-CBCB-4EA3-8CA8-CAE41A11941D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Explainable AI: SHAP-Based Model Interpretation</a:t>
            </a:r>
            <a:endParaRPr lang="de-DE" sz="2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228600" y="1143000"/>
            <a:ext cx="5714280" cy="4956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Objective: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Interpret how the XGBoost model makes credit-risk predictions and identify the features that drive its decisions.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SHAP Framework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TreeExplainer applied to the final XGBoost model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2,000 test observations analyzed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Global feature importance based on mean |SHAP value|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SHAP dependence plots used to examine feature effects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dt" idx="12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005BA08-DAE3-4D3C-AA49-64EE6FA9E560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 type="ftr" idx="128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 type="sldNum" idx="12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D5CFB1-9155-4FCF-84AE-6E1FBF3B81B2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PlaceHolder 7"/>
          <p:cNvSpPr/>
          <p:nvPr/>
        </p:nvSpPr>
        <p:spPr>
          <a:xfrm>
            <a:off x="5988960" y="1143000"/>
            <a:ext cx="4983120" cy="525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Key Findings: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Credit Score: 19.42% of total SHAP importance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Debt-to-Income Ratio: 15.95%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Credit History: 9.65%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Loan-to-Income Ratio: 8.42%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Education Loan Intent: 8.15%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Explainable AI: SHAP-Based Model Interpretation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228600" y="1371600"/>
            <a:ext cx="4799880" cy="47998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Cumulative importance of top 10 features: 84.39%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Cumulative importance of top 20 features: 98.83%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dt" idx="13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598994B-B4AC-489D-ACEA-8D4A10EF249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PlaceHolder 4"/>
          <p:cNvSpPr>
            <a:spLocks noGrp="1"/>
          </p:cNvSpPr>
          <p:nvPr>
            <p:ph type="ftr" idx="131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PlaceHolder 5"/>
          <p:cNvSpPr>
            <a:spLocks noGrp="1"/>
          </p:cNvSpPr>
          <p:nvPr>
            <p:ph type="sldNum" idx="13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5BF4AB-4B1A-44C8-BE22-B92ACAEA5758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4" name=""/>
          <p:cNvPicPr/>
          <p:nvPr/>
        </p:nvPicPr>
        <p:blipFill>
          <a:blip r:embed="rId1"/>
          <a:stretch/>
        </p:blipFill>
        <p:spPr>
          <a:xfrm>
            <a:off x="5729400" y="1009800"/>
            <a:ext cx="4941720" cy="571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Selective Prediction Framework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320" cy="5814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Traditional classification forces an automatic decision for every applicant.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My approach: allow the model to abstain from uncertain cases and refer them to human loan officers.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Two-Threshold Decision Policy: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Probability of Default &lt; thresholds t₁     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🟢 AUTO APPROVE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 (  low-risk  )                                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                                                                                                                                             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thresholds t₁ ≤ Probability of Default ≤ thresholds t₂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🟠 MANUAL REVIEW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(  uncertain )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                                                                                                                                                               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Probability of Default &gt; thresholds t₂     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🔴 AUTO REJECT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(  high-risk  )                                 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13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3532F78-89C6-44DD-857A-3DF71E9A0173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ftr" idx="134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sldNum" idx="13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1A8103-AE6C-4D37-AAE7-0100ED223D48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0" name=""/>
          <p:cNvPicPr/>
          <p:nvPr/>
        </p:nvPicPr>
        <p:blipFill>
          <a:blip r:embed="rId1"/>
          <a:stretch/>
        </p:blipFill>
        <p:spPr>
          <a:xfrm>
            <a:off x="2857680" y="5014440"/>
            <a:ext cx="4914720" cy="138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Selective Prediction — Test Set Results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3656520" cy="5245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Test-Set Decision Distribution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Auto Accept: 1,780 (35.60%)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Auto Reject: 2,604 (52.08%)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Manual Review: 616 (12.32%)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dt" idx="13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84ED92F-9D54-4258-B495-AA0BFF84EFC0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PlaceHolder 4"/>
          <p:cNvSpPr>
            <a:spLocks noGrp="1"/>
          </p:cNvSpPr>
          <p:nvPr>
            <p:ph type="ftr" idx="137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PlaceHolder 5"/>
          <p:cNvSpPr>
            <a:spLocks noGrp="1"/>
          </p:cNvSpPr>
          <p:nvPr>
            <p:ph type="sldNum" idx="13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61E4BB-E342-496D-8F72-86CAA145B35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6" name=""/>
          <p:cNvPicPr/>
          <p:nvPr/>
        </p:nvPicPr>
        <p:blipFill>
          <a:blip r:embed="rId1"/>
          <a:stretch/>
        </p:blipFill>
        <p:spPr>
          <a:xfrm>
            <a:off x="4212000" y="1143000"/>
            <a:ext cx="6685920" cy="5029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Selective Prediction — Test Set Results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dt" idx="13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1AB974F-C5A1-4BDF-BEC5-90145F318F5E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ftr" idx="140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PlaceHolder 4"/>
          <p:cNvSpPr>
            <a:spLocks noGrp="1"/>
          </p:cNvSpPr>
          <p:nvPr>
            <p:ph type="sldNum" idx="14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1D545A-8B97-4B02-A8C7-90611AE0FB0D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1" name=""/>
          <p:cNvPicPr/>
          <p:nvPr/>
        </p:nvPicPr>
        <p:blipFill>
          <a:blip r:embed="rId1"/>
          <a:stretch/>
        </p:blipFill>
        <p:spPr>
          <a:xfrm>
            <a:off x="479520" y="1242360"/>
            <a:ext cx="10720800" cy="447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Reliability Monitoring Framework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5256720" cy="603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Ensure that the credit-risk model remains reliable after deployment when customer populations and data distributions change.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Automated Monitoring Pipeline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1. DATA DRIFT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Monitor changes in customer characteristics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PSI → measures changes in feature distributions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PSI Interpretation: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dt" idx="14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27657C2-CF0B-4951-A531-C7A8A42799AD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 type="ftr" idx="143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PlaceHolder 5"/>
          <p:cNvSpPr>
            <a:spLocks noGrp="1"/>
          </p:cNvSpPr>
          <p:nvPr>
            <p:ph type="sldNum" idx="14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0D34FE-752F-4B24-9087-7031F4C114B2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PlaceHolder 114"/>
          <p:cNvSpPr/>
          <p:nvPr/>
        </p:nvSpPr>
        <p:spPr>
          <a:xfrm>
            <a:off x="6172200" y="685800"/>
            <a:ext cx="5256720" cy="60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KS Test → compares reference and new distributions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KS Interpretation: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2. PREDICTION / MODEL MONITORING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Monitor changes in model behavior and performance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AUC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Accuracy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Negatives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Positives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8" name=""/>
          <p:cNvPicPr/>
          <p:nvPr/>
        </p:nvPicPr>
        <p:blipFill>
          <a:blip r:embed="rId1"/>
          <a:stretch/>
        </p:blipFill>
        <p:spPr>
          <a:xfrm>
            <a:off x="228600" y="4343400"/>
            <a:ext cx="5247720" cy="114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9" name=""/>
          <p:cNvPicPr/>
          <p:nvPr/>
        </p:nvPicPr>
        <p:blipFill>
          <a:blip r:embed="rId2"/>
          <a:stretch/>
        </p:blipFill>
        <p:spPr>
          <a:xfrm>
            <a:off x="6400800" y="1828800"/>
            <a:ext cx="5008320" cy="100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Reliability Monitoring Framework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5714280" cy="5451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3. RELIABILITY ACTION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Detect degradation → Generate alert → Investigate / Retrain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Drift Classification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🟢 Stable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🟠 Moderate Drift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🔴 Significant Drift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dt" idx="14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2BB0A40-39AE-4D34-88FC-C891D48752B9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 type="ftr" idx="146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PlaceHolder 5"/>
          <p:cNvSpPr>
            <a:spLocks noGrp="1"/>
          </p:cNvSpPr>
          <p:nvPr>
            <p:ph type="sldNum" idx="14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BC49BF-9851-496C-8D38-1D49D00DA67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PlaceHolder 152"/>
          <p:cNvSpPr/>
          <p:nvPr/>
        </p:nvSpPr>
        <p:spPr>
          <a:xfrm>
            <a:off x="6168960" y="914400"/>
            <a:ext cx="594576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Reference Population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validation dataset was used as the baseline because it represents unseen customers.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Key Contribution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model is not treated as a static predictor.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Reliability is continuously monitored under distribution shift.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Nightly Automated Model Monitoring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5942520" cy="5451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Purpose: Continuously monitor the deployed credit-risk model for data and prediction changes.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Monitoring Pipeline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Collect new data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Latest scored loan applications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Data Drift Detection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Compare current features with reference data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Identify MODERATE / SEVERE drift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Prediction Drift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Monitor predicted probabilities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Calculate Population Stability Index (PSI)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dt" idx="148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9B2B9F6-3D14-4A23-86A6-9FA84EEAB6E0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PlaceHolder 4"/>
          <p:cNvSpPr>
            <a:spLocks noGrp="1"/>
          </p:cNvSpPr>
          <p:nvPr>
            <p:ph type="ftr" idx="149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PlaceHolder 5"/>
          <p:cNvSpPr>
            <a:spLocks noGrp="1"/>
          </p:cNvSpPr>
          <p:nvPr>
            <p:ph type="sldNum" idx="150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296F77-24F8-47B5-9009-BBBC0024968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PlaceHolder 150"/>
          <p:cNvSpPr/>
          <p:nvPr/>
        </p:nvSpPr>
        <p:spPr>
          <a:xfrm>
            <a:off x="6172200" y="914400"/>
            <a:ext cx="5614920" cy="525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Performance Monitoring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AUC, False Negatives (FN), False Positives (FP)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Cost-sensitive performance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Automated Alerting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Trigger alert when severe drift, prediction drift, or performance degradation is detected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Schedule: Daily at 02:00 AM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Further Improvements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276840" y="1143000"/>
            <a:ext cx="10802880" cy="55476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>
                <a:solidFill>
                  <a:srgbClr val="FF0000"/>
                </a:solidFill>
                <a:effectLst/>
                <a:uFillTx/>
                <a:latin typeface="SRH Text"/>
                <a:ea typeface="SRH Text"/>
              </a:rPr>
              <a:t>Cost-Sensitivity Analysis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Cost Ratio Sensitivity: Instead of fixing the FN cost at 2.5, evaluate different cost ratios:λ∈{1,2,2.5,5,10}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For each λ, re-optimize the selective prediction thresholds: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Compare how changing λ affects: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Optimal t1​ and t2​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Number of FN and FP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FN/FP ratio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Accuracy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Coverage / rejection rate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dt" idx="15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7412F09-6E40-4E18-822D-863F11EF8518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ftr" idx="152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 type="sldNum" idx="15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B5D084-3C4D-4F2E-B7D0-163CF63557F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Picture 10"/>
          <p:cNvPicPr/>
          <p:nvPr/>
        </p:nvPicPr>
        <p:blipFill>
          <a:blip r:embed="rId1"/>
          <a:stretch/>
        </p:blipFill>
        <p:spPr>
          <a:xfrm>
            <a:off x="101520" y="1472400"/>
            <a:ext cx="9448560" cy="1730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8" name="Picture 11"/>
          <p:cNvPicPr/>
          <p:nvPr/>
        </p:nvPicPr>
        <p:blipFill>
          <a:blip r:embed="rId2"/>
          <a:stretch/>
        </p:blipFill>
        <p:spPr>
          <a:xfrm>
            <a:off x="1456200" y="2779920"/>
            <a:ext cx="7668000" cy="848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Presentation">
  <a:themeElements>
    <a:clrScheme name="Presentation 1">
      <a:dk1>
        <a:srgbClr val="575756"/>
      </a:dk1>
      <a:lt1>
        <a:srgbClr val="FFFFFF"/>
      </a:lt1>
      <a:dk2>
        <a:srgbClr val="00699A"/>
      </a:dk2>
      <a:lt2>
        <a:srgbClr val="AAA39D"/>
      </a:lt2>
      <a:accent1>
        <a:srgbClr val="DF4807"/>
      </a:accent1>
      <a:accent2>
        <a:srgbClr val="AAA39D"/>
      </a:accent2>
      <a:accent3>
        <a:srgbClr val="FCC61E"/>
      </a:accent3>
      <a:accent4>
        <a:srgbClr val="35B4A0"/>
      </a:accent4>
      <a:accent5>
        <a:srgbClr val="CA007F"/>
      </a:accent5>
      <a:accent6>
        <a:srgbClr val="021E30"/>
      </a:accent6>
      <a:hlink>
        <a:srgbClr val="000000"/>
      </a:hlink>
      <a:folHlink>
        <a:srgbClr val="000000"/>
      </a:folHlink>
    </a:clrScheme>
    <a:fontScheme name="Presentation">
      <a:majorFont>
        <a:latin typeface="SRH Headline" pitchFamily="0" charset="1"/>
        <a:ea typeface="SRH Headline" pitchFamily="0" charset="1"/>
        <a:cs typeface="SRH Headline" pitchFamily="0" charset="1"/>
      </a:majorFont>
      <a:minorFont>
        <a:latin typeface="SRH Text" pitchFamily="0" charset="1"/>
        <a:ea typeface="SRH Text" pitchFamily="0" charset="1"/>
        <a:cs typeface="SRH Text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4763</TotalTime>
  <Application>LibreOffice/26.2.5.2$Windows_X86_64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2020-06-05T16:20:53Z</dcterms:created>
  <dc:creator>Henrike Voelker</dc:creator>
  <dc:description/>
  <dc:language>en-US</dc:language>
  <cp:lastModifiedBy/>
  <dcterms:modified xsi:type="dcterms:W3CDTF">2026-09-12T13:11:00Z</dcterms:modified>
  <cp:revision>122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