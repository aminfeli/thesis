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media/image2.svg" ContentType="image/svg"/>
  <Override PartName="/ppt/media/image24.emf" ContentType="image/x-emf"/>
  <Override PartName="/ppt/media/image4.svg" ContentType="image/svg"/>
  <Override PartName="/ppt/media/image23.emf" ContentType="image/x-emf"/>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 name="PlaceHolder 3"/>
          <p:cNvSpPr>
            <a:spLocks noGrp="1"/>
          </p:cNvSpPr>
          <p:nvPr>
            <p:ph type="dt" idx="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7" name="PlaceHolder 4"/>
          <p:cNvSpPr>
            <a:spLocks noGrp="1"/>
          </p:cNvSpPr>
          <p:nvPr>
            <p:ph type="ftr" idx="2"/>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8" name="PlaceHolder 5"/>
          <p:cNvSpPr>
            <a:spLocks noGrp="1"/>
          </p:cNvSpPr>
          <p:nvPr>
            <p:ph type="sldNum" idx="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A2911BB-DCE9-4E0E-A461-C2F8AC566CB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2"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3"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4" name="Freihandform: Form 10"/>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5"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6" name="PlaceHolder 2"/>
          <p:cNvSpPr>
            <a:spLocks noGrp="1"/>
          </p:cNvSpPr>
          <p:nvPr>
            <p:ph type="dt" idx="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17" name="PlaceHolder 3"/>
          <p:cNvSpPr>
            <a:spLocks noGrp="1"/>
          </p:cNvSpPr>
          <p:nvPr>
            <p:ph type="ftr" idx="5"/>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18" name="PlaceHolder 4"/>
          <p:cNvSpPr>
            <a:spLocks noGrp="1"/>
          </p:cNvSpPr>
          <p:nvPr>
            <p:ph type="sldNum" idx="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3801072E-8130-4110-AC42-68F7D7BF9959}"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19"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20"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2" name="PlaceHolder 2"/>
          <p:cNvSpPr>
            <a:spLocks noGrp="1"/>
          </p:cNvSpPr>
          <p:nvPr>
            <p:ph type="title"/>
          </p:nvPr>
        </p:nvSpPr>
        <p:spPr>
          <a:xfrm>
            <a:off x="360000" y="616680"/>
            <a:ext cx="7640640" cy="251496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23" name="PlaceHolder 3"/>
          <p:cNvSpPr>
            <a:spLocks noGrp="1"/>
          </p:cNvSpPr>
          <p:nvPr>
            <p:ph type="body"/>
          </p:nvPr>
        </p:nvSpPr>
        <p:spPr>
          <a:xfrm>
            <a:off x="360000" y="3124800"/>
            <a:ext cx="7640640" cy="25149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24" name="PlaceHolder 4"/>
          <p:cNvSpPr>
            <a:spLocks noGrp="1"/>
          </p:cNvSpPr>
          <p:nvPr>
            <p:ph type="dt" idx="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25" name="PlaceHolder 5"/>
          <p:cNvSpPr>
            <a:spLocks noGrp="1"/>
          </p:cNvSpPr>
          <p:nvPr>
            <p:ph type="ftr" idx="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26" name="PlaceHolder 6"/>
          <p:cNvSpPr>
            <a:spLocks noGrp="1"/>
          </p:cNvSpPr>
          <p:nvPr>
            <p:ph type="sldNum" idx="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6BF6A060-307B-4B8F-B058-AFC18FB4DE58}" type="slidenum">
              <a:rPr lang="de-DE" sz="1550" b="1" u="none" strike="noStrike">
                <a:solidFill>
                  <a:schemeClr val="lt1"/>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7"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28"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9"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31"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32" name="PlaceHolder 3"/>
          <p:cNvSpPr>
            <a:spLocks noGrp="1"/>
          </p:cNvSpPr>
          <p:nvPr>
            <p:ph type="dt" idx="1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33" name="PlaceHolder 4"/>
          <p:cNvSpPr>
            <a:spLocks noGrp="1"/>
          </p:cNvSpPr>
          <p:nvPr>
            <p:ph type="ftr" idx="1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34" name="PlaceHolder 5"/>
          <p:cNvSpPr>
            <a:spLocks noGrp="1"/>
          </p:cNvSpPr>
          <p:nvPr>
            <p:ph type="sldNum" idx="1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326E5F7-C249-41EE-B18D-E959DBE3DD1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35"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37"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38" name="PlaceHolder 3"/>
          <p:cNvSpPr>
            <a:spLocks noGrp="1"/>
          </p:cNvSpPr>
          <p:nvPr>
            <p:ph type="dt" idx="1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39" name="PlaceHolder 4"/>
          <p:cNvSpPr>
            <a:spLocks noGrp="1"/>
          </p:cNvSpPr>
          <p:nvPr>
            <p:ph type="ftr" idx="1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40" name="PlaceHolder 5"/>
          <p:cNvSpPr>
            <a:spLocks noGrp="1"/>
          </p:cNvSpPr>
          <p:nvPr>
            <p:ph type="sldNum" idx="1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B19E024D-9708-4E47-B283-504869DEAA0B}"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41"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
        <p:nvSpPr>
          <p:cNvPr id="42" name="Freihandform: Form 8"/>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4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5"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46"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47" name="PlaceHolder 3"/>
          <p:cNvSpPr>
            <a:spLocks noGrp="1"/>
          </p:cNvSpPr>
          <p:nvPr>
            <p:ph type="dt" idx="1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48" name="PlaceHolder 4"/>
          <p:cNvSpPr>
            <a:spLocks noGrp="1"/>
          </p:cNvSpPr>
          <p:nvPr>
            <p:ph type="ftr" idx="1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49" name="PlaceHolder 5"/>
          <p:cNvSpPr>
            <a:spLocks noGrp="1"/>
          </p:cNvSpPr>
          <p:nvPr>
            <p:ph type="sldNum" idx="1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5659BF2-B487-4D75-91A7-2184FE4C242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50"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1"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2"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53" name="PlaceHolder 2"/>
          <p:cNvSpPr>
            <a:spLocks noGrp="1"/>
          </p:cNvSpPr>
          <p:nvPr>
            <p:ph type="dt" idx="1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54" name="PlaceHolder 3"/>
          <p:cNvSpPr>
            <a:spLocks noGrp="1"/>
          </p:cNvSpPr>
          <p:nvPr>
            <p:ph type="ftr" idx="2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55" name="PlaceHolder 4"/>
          <p:cNvSpPr>
            <a:spLocks noGrp="1"/>
          </p:cNvSpPr>
          <p:nvPr>
            <p:ph type="sldNum" idx="2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002A7A2-C1DF-46FE-8035-C8121229F2B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5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7" name="PlaceHolder 1"/>
          <p:cNvSpPr>
            <a:spLocks noGrp="1"/>
          </p:cNvSpPr>
          <p:nvPr>
            <p:ph type="body"/>
          </p:nvPr>
        </p:nvSpPr>
        <p:spPr>
          <a:xfrm>
            <a:off x="6095880" y="0"/>
            <a:ext cx="6093720" cy="68558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8"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9" name="PlaceHolder 2"/>
          <p:cNvSpPr>
            <a:spLocks noGrp="1"/>
          </p:cNvSpPr>
          <p:nvPr>
            <p:ph type="title"/>
          </p:nvPr>
        </p:nvSpPr>
        <p:spPr>
          <a:xfrm>
            <a:off x="360000" y="358920"/>
            <a:ext cx="5365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0" name="PlaceHolder 3"/>
          <p:cNvSpPr>
            <a:spLocks noGrp="1"/>
          </p:cNvSpPr>
          <p:nvPr>
            <p:ph type="body"/>
          </p:nvPr>
        </p:nvSpPr>
        <p:spPr>
          <a:xfrm>
            <a:off x="367560" y="1728000"/>
            <a:ext cx="53654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1" name="PlaceHolder 4"/>
          <p:cNvSpPr>
            <a:spLocks noGrp="1"/>
          </p:cNvSpPr>
          <p:nvPr>
            <p:ph type="dt" idx="2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62" name="PlaceHolder 5"/>
          <p:cNvSpPr>
            <a:spLocks noGrp="1"/>
          </p:cNvSpPr>
          <p:nvPr>
            <p:ph type="ftr" idx="23"/>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63" name="PlaceHolder 6"/>
          <p:cNvSpPr>
            <a:spLocks noGrp="1"/>
          </p:cNvSpPr>
          <p:nvPr>
            <p:ph type="sldNum" idx="2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DDD5C67-481C-43E8-9992-8194DE1ADA2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64"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6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66"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7"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8" name="PlaceHolder 3"/>
          <p:cNvSpPr>
            <a:spLocks noGrp="1"/>
          </p:cNvSpPr>
          <p:nvPr>
            <p:ph type="dt" idx="2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69" name="PlaceHolder 4"/>
          <p:cNvSpPr>
            <a:spLocks noGrp="1"/>
          </p:cNvSpPr>
          <p:nvPr>
            <p:ph type="ftr" idx="2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70" name="PlaceHolder 5"/>
          <p:cNvSpPr>
            <a:spLocks noGrp="1"/>
          </p:cNvSpPr>
          <p:nvPr>
            <p:ph type="sldNum" idx="2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FEA5E6D-52B4-4E4D-BF28-BE7A47A88FD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71"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2"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7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74"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75"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6"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7" name="PlaceHolder 3"/>
          <p:cNvSpPr>
            <a:spLocks noGrp="1"/>
          </p:cNvSpPr>
          <p:nvPr>
            <p:ph type="dt" idx="2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78" name="PlaceHolder 4"/>
          <p:cNvSpPr>
            <a:spLocks noGrp="1"/>
          </p:cNvSpPr>
          <p:nvPr>
            <p:ph type="ftr" idx="29"/>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79" name="PlaceHolder 5"/>
          <p:cNvSpPr>
            <a:spLocks noGrp="1"/>
          </p:cNvSpPr>
          <p:nvPr>
            <p:ph type="sldNum" idx="3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F39EF61-F72B-466A-9D00-50A69D368EE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80"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1"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82"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8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84"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85"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6"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7" name="PlaceHolder 3"/>
          <p:cNvSpPr>
            <a:spLocks noGrp="1"/>
          </p:cNvSpPr>
          <p:nvPr>
            <p:ph type="dt" idx="3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88" name="PlaceHolder 4"/>
          <p:cNvSpPr>
            <a:spLocks noGrp="1"/>
          </p:cNvSpPr>
          <p:nvPr>
            <p:ph type="ftr" idx="32"/>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89" name="PlaceHolder 5"/>
          <p:cNvSpPr>
            <a:spLocks noGrp="1"/>
          </p:cNvSpPr>
          <p:nvPr>
            <p:ph type="sldNum" idx="3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8B79C37-5F0F-4E6F-A930-732888013A2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90" name="PlaceHolder 6"/>
          <p:cNvSpPr>
            <a:spLocks noGrp="1"/>
          </p:cNvSpPr>
          <p:nvPr>
            <p:ph type="body"/>
          </p:nvPr>
        </p:nvSpPr>
        <p:spPr>
          <a:xfrm>
            <a:off x="8247960" y="1728000"/>
            <a:ext cx="358236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9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92"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93"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94"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95" name="PlaceHolder 3"/>
          <p:cNvSpPr>
            <a:spLocks noGrp="1"/>
          </p:cNvSpPr>
          <p:nvPr>
            <p:ph type="dt" idx="3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96" name="PlaceHolder 4"/>
          <p:cNvSpPr>
            <a:spLocks noGrp="1"/>
          </p:cNvSpPr>
          <p:nvPr>
            <p:ph type="ftr" idx="35"/>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97" name="PlaceHolder 5"/>
          <p:cNvSpPr>
            <a:spLocks noGrp="1"/>
          </p:cNvSpPr>
          <p:nvPr>
            <p:ph type="sldNum" idx="3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0C2A2C5-430A-4226-BEFB-B345A174F9F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98" name="PlaceHolder 6"/>
          <p:cNvSpPr>
            <a:spLocks noGrp="1"/>
          </p:cNvSpPr>
          <p:nvPr>
            <p:ph type="body"/>
          </p:nvPr>
        </p:nvSpPr>
        <p:spPr>
          <a:xfrm>
            <a:off x="8247960" y="1728000"/>
            <a:ext cx="394200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99"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0" name="Rechteck 9"/>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1" name="Freihandform: Form 28"/>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02" name="PlaceHolder 1"/>
          <p:cNvSpPr>
            <a:spLocks noGrp="1"/>
          </p:cNvSpPr>
          <p:nvPr>
            <p:ph type="title"/>
          </p:nvPr>
        </p:nvSpPr>
        <p:spPr>
          <a:xfrm>
            <a:off x="360000" y="358920"/>
            <a:ext cx="915660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03"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04" name="PlaceHolder 3"/>
          <p:cNvSpPr>
            <a:spLocks noGrp="1"/>
          </p:cNvSpPr>
          <p:nvPr>
            <p:ph type="dt" idx="3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05" name="PlaceHolder 4"/>
          <p:cNvSpPr>
            <a:spLocks noGrp="1"/>
          </p:cNvSpPr>
          <p:nvPr>
            <p:ph type="ftr" idx="3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06" name="PlaceHolder 5"/>
          <p:cNvSpPr>
            <a:spLocks noGrp="1"/>
          </p:cNvSpPr>
          <p:nvPr>
            <p:ph type="sldNum" idx="3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136502C-75C6-4304-A274-736ACEA6923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0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0" name="PlaceHolder 2"/>
          <p:cNvSpPr>
            <a:spLocks noGrp="1"/>
          </p:cNvSpPr>
          <p:nvPr>
            <p:ph type="body"/>
          </p:nvPr>
        </p:nvSpPr>
        <p:spPr>
          <a:xfrm>
            <a:off x="204804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1" name="PlaceHolder 3"/>
          <p:cNvSpPr>
            <a:spLocks noGrp="1"/>
          </p:cNvSpPr>
          <p:nvPr>
            <p:ph type="dt" idx="4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12" name="PlaceHolder 4"/>
          <p:cNvSpPr>
            <a:spLocks noGrp="1"/>
          </p:cNvSpPr>
          <p:nvPr>
            <p:ph type="ftr" idx="4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13" name="PlaceHolder 5"/>
          <p:cNvSpPr>
            <a:spLocks noGrp="1"/>
          </p:cNvSpPr>
          <p:nvPr>
            <p:ph type="sldNum" idx="4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F3D899-76E8-4419-8319-864C2916888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14" name="PlaceHolder 6"/>
          <p:cNvSpPr>
            <a:spLocks noGrp="1"/>
          </p:cNvSpPr>
          <p:nvPr>
            <p:ph type="body"/>
          </p:nvPr>
        </p:nvSpPr>
        <p:spPr>
          <a:xfrm>
            <a:off x="204804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5" name="PlaceHolder 7"/>
          <p:cNvSpPr>
            <a:spLocks noGrp="1"/>
          </p:cNvSpPr>
          <p:nvPr>
            <p:ph type="body"/>
          </p:nvPr>
        </p:nvSpPr>
        <p:spPr>
          <a:xfrm>
            <a:off x="627588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6" name="PlaceHolder 8"/>
          <p:cNvSpPr>
            <a:spLocks noGrp="1"/>
          </p:cNvSpPr>
          <p:nvPr>
            <p:ph type="body"/>
          </p:nvPr>
        </p:nvSpPr>
        <p:spPr>
          <a:xfrm>
            <a:off x="627588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1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1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1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0"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1" name="PlaceHolder 3"/>
          <p:cNvSpPr>
            <a:spLocks noGrp="1"/>
          </p:cNvSpPr>
          <p:nvPr>
            <p:ph type="dt" idx="4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22" name="PlaceHolder 4"/>
          <p:cNvSpPr>
            <a:spLocks noGrp="1"/>
          </p:cNvSpPr>
          <p:nvPr>
            <p:ph type="ftr" idx="4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23" name="PlaceHolder 5"/>
          <p:cNvSpPr>
            <a:spLocks noGrp="1"/>
          </p:cNvSpPr>
          <p:nvPr>
            <p:ph type="sldNum" idx="4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8A6FA3D-1157-468F-B2A1-1A6B2707DC7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24"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5"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2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8"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9" name="PlaceHolder 3"/>
          <p:cNvSpPr>
            <a:spLocks noGrp="1"/>
          </p:cNvSpPr>
          <p:nvPr>
            <p:ph type="dt" idx="4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30" name="PlaceHolder 4"/>
          <p:cNvSpPr>
            <a:spLocks noGrp="1"/>
          </p:cNvSpPr>
          <p:nvPr>
            <p:ph type="ftr" idx="4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31" name="PlaceHolder 5"/>
          <p:cNvSpPr>
            <a:spLocks noGrp="1"/>
          </p:cNvSpPr>
          <p:nvPr>
            <p:ph type="sldNum" idx="4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240E696-BCF3-49D7-ADD5-91185697D12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32"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3"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34"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13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36"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37" name="PlaceHolder 1"/>
          <p:cNvSpPr>
            <a:spLocks noGrp="1"/>
          </p:cNvSpPr>
          <p:nvPr>
            <p:ph type="sldNum" idx="4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74106C5-3E39-4BD1-AB9A-8EB931CD282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38" name="PlaceHolder 2"/>
          <p:cNvSpPr>
            <a:spLocks noGrp="1"/>
          </p:cNvSpPr>
          <p:nvPr>
            <p:ph type="ftr" idx="5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39" name="PlaceHolder 3"/>
          <p:cNvSpPr>
            <a:spLocks noGrp="1"/>
          </p:cNvSpPr>
          <p:nvPr>
            <p:ph type="dt" idx="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40" name="PlaceHolder 4"/>
          <p:cNvSpPr>
            <a:spLocks noGrp="1"/>
          </p:cNvSpPr>
          <p:nvPr>
            <p:ph type="body"/>
          </p:nvPr>
        </p:nvSpPr>
        <p:spPr>
          <a:xfrm>
            <a:off x="6773400" y="485388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1" name="PlaceHolder 5"/>
          <p:cNvSpPr>
            <a:spLocks noGrp="1"/>
          </p:cNvSpPr>
          <p:nvPr>
            <p:ph type="body"/>
          </p:nvPr>
        </p:nvSpPr>
        <p:spPr>
          <a:xfrm>
            <a:off x="6275880" y="485388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2" name="PlaceHolder 6"/>
          <p:cNvSpPr>
            <a:spLocks noGrp="1"/>
          </p:cNvSpPr>
          <p:nvPr>
            <p:ph type="body"/>
          </p:nvPr>
        </p:nvSpPr>
        <p:spPr>
          <a:xfrm>
            <a:off x="6773400" y="407304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3" name="PlaceHolder 7"/>
          <p:cNvSpPr>
            <a:spLocks noGrp="1"/>
          </p:cNvSpPr>
          <p:nvPr>
            <p:ph type="body"/>
          </p:nvPr>
        </p:nvSpPr>
        <p:spPr>
          <a:xfrm>
            <a:off x="6275880" y="407304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4" name="PlaceHolder 8"/>
          <p:cNvSpPr>
            <a:spLocks noGrp="1"/>
          </p:cNvSpPr>
          <p:nvPr>
            <p:ph type="body"/>
          </p:nvPr>
        </p:nvSpPr>
        <p:spPr>
          <a:xfrm>
            <a:off x="6773400" y="329112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5" name="PlaceHolder 9"/>
          <p:cNvSpPr>
            <a:spLocks noGrp="1"/>
          </p:cNvSpPr>
          <p:nvPr>
            <p:ph type="body"/>
          </p:nvPr>
        </p:nvSpPr>
        <p:spPr>
          <a:xfrm>
            <a:off x="6275880" y="329112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6" name="PlaceHolder 10"/>
          <p:cNvSpPr>
            <a:spLocks noGrp="1"/>
          </p:cNvSpPr>
          <p:nvPr>
            <p:ph type="body"/>
          </p:nvPr>
        </p:nvSpPr>
        <p:spPr>
          <a:xfrm>
            <a:off x="6773400" y="250956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7" name="PlaceHolder 11"/>
          <p:cNvSpPr>
            <a:spLocks noGrp="1"/>
          </p:cNvSpPr>
          <p:nvPr>
            <p:ph type="body"/>
          </p:nvPr>
        </p:nvSpPr>
        <p:spPr>
          <a:xfrm>
            <a:off x="6275880" y="250956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8" name="PlaceHolder 12"/>
          <p:cNvSpPr>
            <a:spLocks noGrp="1"/>
          </p:cNvSpPr>
          <p:nvPr>
            <p:ph type="body"/>
          </p:nvPr>
        </p:nvSpPr>
        <p:spPr>
          <a:xfrm>
            <a:off x="6773400" y="172800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9" name="PlaceHolder 13"/>
          <p:cNvSpPr>
            <a:spLocks noGrp="1"/>
          </p:cNvSpPr>
          <p:nvPr>
            <p:ph type="body"/>
          </p:nvPr>
        </p:nvSpPr>
        <p:spPr>
          <a:xfrm>
            <a:off x="6275880" y="172800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0" name="PlaceHolder 14"/>
          <p:cNvSpPr>
            <a:spLocks noGrp="1"/>
          </p:cNvSpPr>
          <p:nvPr>
            <p:ph type="body"/>
          </p:nvPr>
        </p:nvSpPr>
        <p:spPr>
          <a:xfrm>
            <a:off x="862200" y="485388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1" name="PlaceHolder 15"/>
          <p:cNvSpPr>
            <a:spLocks noGrp="1"/>
          </p:cNvSpPr>
          <p:nvPr>
            <p:ph type="body"/>
          </p:nvPr>
        </p:nvSpPr>
        <p:spPr>
          <a:xfrm>
            <a:off x="359280" y="485388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2" name="PlaceHolder 16"/>
          <p:cNvSpPr>
            <a:spLocks noGrp="1"/>
          </p:cNvSpPr>
          <p:nvPr>
            <p:ph type="body"/>
          </p:nvPr>
        </p:nvSpPr>
        <p:spPr>
          <a:xfrm>
            <a:off x="862200" y="407304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3" name="PlaceHolder 17"/>
          <p:cNvSpPr>
            <a:spLocks noGrp="1"/>
          </p:cNvSpPr>
          <p:nvPr>
            <p:ph type="body"/>
          </p:nvPr>
        </p:nvSpPr>
        <p:spPr>
          <a:xfrm>
            <a:off x="359280" y="407304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4" name="PlaceHolder 18"/>
          <p:cNvSpPr>
            <a:spLocks noGrp="1"/>
          </p:cNvSpPr>
          <p:nvPr>
            <p:ph type="body"/>
          </p:nvPr>
        </p:nvSpPr>
        <p:spPr>
          <a:xfrm>
            <a:off x="862200" y="329112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5" name="PlaceHolder 19"/>
          <p:cNvSpPr>
            <a:spLocks noGrp="1"/>
          </p:cNvSpPr>
          <p:nvPr>
            <p:ph type="body"/>
          </p:nvPr>
        </p:nvSpPr>
        <p:spPr>
          <a:xfrm>
            <a:off x="359280" y="329112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156" name="PlaceHolder 20"/>
          <p:cNvSpPr>
            <a:spLocks noGrp="1"/>
          </p:cNvSpPr>
          <p:nvPr>
            <p:ph type="body"/>
          </p:nvPr>
        </p:nvSpPr>
        <p:spPr>
          <a:xfrm>
            <a:off x="862200" y="250956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7" name="PlaceHolder 21"/>
          <p:cNvSpPr>
            <a:spLocks noGrp="1"/>
          </p:cNvSpPr>
          <p:nvPr>
            <p:ph type="body"/>
          </p:nvPr>
        </p:nvSpPr>
        <p:spPr>
          <a:xfrm>
            <a:off x="359280" y="250956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158" name="PlaceHolder 22"/>
          <p:cNvSpPr>
            <a:spLocks noGrp="1"/>
          </p:cNvSpPr>
          <p:nvPr>
            <p:ph type="body"/>
          </p:nvPr>
        </p:nvSpPr>
        <p:spPr>
          <a:xfrm>
            <a:off x="862200" y="172800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9" name="PlaceHolder 23"/>
          <p:cNvSpPr>
            <a:spLocks noGrp="1"/>
          </p:cNvSpPr>
          <p:nvPr>
            <p:ph type="body"/>
          </p:nvPr>
        </p:nvSpPr>
        <p:spPr>
          <a:xfrm>
            <a:off x="359280" y="172800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160" name="PlaceHolder 24"/>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61"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2"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3"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64"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65" name="PlaceHolder 4"/>
          <p:cNvSpPr>
            <a:spLocks noGrp="1"/>
          </p:cNvSpPr>
          <p:nvPr>
            <p:ph type="body"/>
          </p:nvPr>
        </p:nvSpPr>
        <p:spPr>
          <a:xfrm>
            <a:off x="630000" y="457920"/>
            <a:ext cx="946440" cy="7318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6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dt" idx="5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69" name="PlaceHolder 3"/>
          <p:cNvSpPr>
            <a:spLocks noGrp="1"/>
          </p:cNvSpPr>
          <p:nvPr>
            <p:ph type="ftr" idx="53"/>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70" name="PlaceHolder 4"/>
          <p:cNvSpPr>
            <a:spLocks noGrp="1"/>
          </p:cNvSpPr>
          <p:nvPr>
            <p:ph type="sldNum" idx="5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4740307-9A25-4257-B095-F356CC51D20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2" name="PlaceHolder 1"/>
          <p:cNvSpPr>
            <a:spLocks noGrp="1"/>
          </p:cNvSpPr>
          <p:nvPr>
            <p:ph type="dt" idx="5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73" name="PlaceHolder 2"/>
          <p:cNvSpPr>
            <a:spLocks noGrp="1"/>
          </p:cNvSpPr>
          <p:nvPr>
            <p:ph type="ftr" idx="5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74" name="PlaceHolder 3"/>
          <p:cNvSpPr>
            <a:spLocks noGrp="1"/>
          </p:cNvSpPr>
          <p:nvPr>
            <p:ph type="sldNum" idx="5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D96D695-2760-40AB-AD4B-D9D0FAE281A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6"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77"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78" name="PlaceHolder 1"/>
          <p:cNvSpPr>
            <a:spLocks noGrp="1"/>
          </p:cNvSpPr>
          <p:nvPr>
            <p:ph type="body"/>
          </p:nvPr>
        </p:nvSpPr>
        <p:spPr>
          <a:xfrm>
            <a:off x="360000" y="4881240"/>
            <a:ext cx="4628880" cy="126972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7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80"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81" name="PlaceHolder 1"/>
          <p:cNvSpPr>
            <a:spLocks noGrp="1"/>
          </p:cNvSpPr>
          <p:nvPr>
            <p:ph type="body"/>
          </p:nvPr>
        </p:nvSpPr>
        <p:spPr>
          <a:xfrm>
            <a:off x="360000" y="4881240"/>
            <a:ext cx="4628880" cy="126900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82" name="Freihandform: Form 5"/>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pic>
        <p:nvPicPr>
          <p:cNvPr id="183"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23.emf"/><Relationship Id="rId2" Type="http://schemas.openxmlformats.org/officeDocument/2006/relationships/image" Target="../media/image24.emf"/><Relationship Id="rId3" Type="http://schemas.openxmlformats.org/officeDocument/2006/relationships/slideLayout" Target="../slideLayouts/slideLayout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299880" y="1143000"/>
            <a:ext cx="11254320" cy="1702800"/>
          </a:xfrm>
          <a:prstGeom prst="rect">
            <a:avLst/>
          </a:prstGeom>
          <a:noFill/>
          <a:ln w="0">
            <a:noFill/>
          </a:ln>
        </p:spPr>
        <p:txBody>
          <a:bodyPr numCol="1" spcCol="216000" lIns="0" tIns="0" rIns="0" bIns="0" anchor="t">
            <a:noAutofit/>
          </a:bodyPr>
          <a:p>
            <a:pPr indent="0" algn="ctr" defTabSz="914400">
              <a:lnSpc>
                <a:spcPct val="115000"/>
              </a:lnSpc>
              <a:spcBef>
                <a:spcPts val="1191"/>
              </a:spcBef>
              <a:spcAft>
                <a:spcPts val="992"/>
              </a:spcAft>
              <a:buNone/>
              <a:tabLst>
                <a:tab pos="0" algn="l"/>
              </a:tabLst>
            </a:pPr>
            <a:r>
              <a:rPr lang="de-DE" sz="4000" b="1" u="none" strike="noStrike">
                <a:solidFill>
                  <a:schemeClr val="lt1"/>
                </a:solidFill>
                <a:effectLst/>
                <a:uFillTx/>
                <a:latin typeface="SRH Headline"/>
                <a:ea typeface="SRH Headline"/>
              </a:rPr>
              <a:t>A Reliability-Aware Decision Framework for Cost-Sensitive Selective Prediction in Credit Risk under Distribution Shift </a:t>
            </a:r>
            <a:br>
              <a:rPr sz="4000"/>
            </a:br>
            <a:endParaRPr lang="de-DE" sz="4000" b="1" u="none" strike="noStrike">
              <a:solidFill>
                <a:schemeClr val="lt1"/>
              </a:solidFill>
              <a:effectLst/>
              <a:uFillTx/>
              <a:latin typeface="SRH Headline"/>
            </a:endParaRPr>
          </a:p>
        </p:txBody>
      </p:sp>
      <p:sp>
        <p:nvSpPr>
          <p:cNvPr id="185" name="object 12"/>
          <p:cNvSpPr/>
          <p:nvPr/>
        </p:nvSpPr>
        <p:spPr>
          <a:xfrm rot="21561000">
            <a:off x="448560" y="4151520"/>
            <a:ext cx="6418080" cy="202032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86" name="PlaceHolder 2"/>
          <p:cNvSpPr>
            <a:spLocks noGrp="1"/>
          </p:cNvSpPr>
          <p:nvPr>
            <p:ph type="dt" idx="58"/>
          </p:nvPr>
        </p:nvSpPr>
        <p:spPr>
          <a:xfrm>
            <a:off x="172080" y="6231960"/>
            <a:ext cx="8730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A204A7E4-8D31-4B36-B02F-48B84E7B0D0F}" type="datetime1">
              <a:rPr lang="en-CA" sz="900" b="1" u="none" strike="noStrike">
                <a:solidFill>
                  <a:schemeClr val="lt1"/>
                </a:solidFill>
                <a:effectLst/>
                <a:uFillTx/>
                <a:latin typeface="SRH Text"/>
                <a:ea typeface="SRH"/>
              </a:rPr>
              <a:t>2026-08-17</a:t>
            </a:fld>
            <a:endParaRPr lang="en-US" sz="900" b="0" u="none" strike="noStrike">
              <a:solidFill>
                <a:srgbClr val="FFFFFF"/>
              </a:solidFill>
              <a:effectLst/>
              <a:uFillTx/>
              <a:latin typeface="Times New Roman"/>
            </a:endParaRPr>
          </a:p>
        </p:txBody>
      </p:sp>
      <p:sp>
        <p:nvSpPr>
          <p:cNvPr id="187" name="PlaceHolder 3"/>
          <p:cNvSpPr>
            <a:spLocks noGrp="1"/>
          </p:cNvSpPr>
          <p:nvPr>
            <p:ph type="ftr" idx="59"/>
          </p:nvPr>
        </p:nvSpPr>
        <p:spPr>
          <a:xfrm>
            <a:off x="1133640" y="6285240"/>
            <a:ext cx="649332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88" name="PlaceHolder 4"/>
          <p:cNvSpPr>
            <a:spLocks noGrp="1"/>
          </p:cNvSpPr>
          <p:nvPr>
            <p:ph type="sldNum" idx="60"/>
          </p:nvPr>
        </p:nvSpPr>
        <p:spPr>
          <a:xfrm>
            <a:off x="11058480" y="6311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D82AAB3C-8F30-47F8-8F32-AEC39789EE86}"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Introduction</a:t>
            </a:r>
            <a:endParaRPr lang="de-DE" sz="2600" b="1" u="none" strike="noStrike">
              <a:solidFill>
                <a:schemeClr val="dk1"/>
              </a:solidFill>
              <a:effectLst/>
              <a:uFillTx/>
              <a:latin typeface="SRH Headline"/>
            </a:endParaRPr>
          </a:p>
        </p:txBody>
      </p:sp>
      <p:sp>
        <p:nvSpPr>
          <p:cNvPr id="190" name="PlaceHolder 2"/>
          <p:cNvSpPr>
            <a:spLocks noGrp="1"/>
          </p:cNvSpPr>
          <p:nvPr>
            <p:ph/>
          </p:nvPr>
        </p:nvSpPr>
        <p:spPr>
          <a:xfrm>
            <a:off x="276840" y="9144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What is Credit Risk?</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Credit risk is a fundamental task in finance and banking, designed to estimate the </a:t>
            </a:r>
            <a:r>
              <a:rPr lang="en-US" sz="1300" b="0" u="none" strike="noStrike">
                <a:solidFill>
                  <a:srgbClr val="1C1C1C"/>
                </a:solidFill>
                <a:effectLst/>
                <a:uFillTx/>
                <a:latin typeface="SRH Text"/>
                <a:ea typeface="SRH Text"/>
              </a:rPr>
              <a:t>likelihood that a borrower will default on a loan or fail to meet contractual debt obligations.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Why is Credit Risk Prediction Important?</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Banks make decisions based on information about applicants, such as their occupation_status , credit history, and credit_score . Machine Learning (ML) models can learn patterns from historical data and estimate the probability that an applicant will default. refine it in the simple way.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Accurate credit risk prediction helps banks to: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Reduce losses from unpaid loans.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Make better lending decisions.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Manage money and capital more efficiently.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a:t>
            </a:r>
            <a:endParaRPr lang="de-DE" sz="1300" b="0" u="none" strike="noStrike">
              <a:solidFill>
                <a:schemeClr val="dk1"/>
              </a:solidFill>
              <a:effectLst/>
              <a:uFillTx/>
              <a:latin typeface="SRH Text"/>
            </a:endParaRPr>
          </a:p>
        </p:txBody>
      </p:sp>
      <p:sp>
        <p:nvSpPr>
          <p:cNvPr id="191" name="PlaceHolder 3"/>
          <p:cNvSpPr>
            <a:spLocks noGrp="1"/>
          </p:cNvSpPr>
          <p:nvPr>
            <p:ph type="dt" idx="6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018FD6E-68CE-4183-9FC0-B29853EFE009}"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192" name="PlaceHolder 4"/>
          <p:cNvSpPr>
            <a:spLocks noGrp="1"/>
          </p:cNvSpPr>
          <p:nvPr>
            <p:ph type="ftr" idx="6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3" name="PlaceHolder 5"/>
          <p:cNvSpPr>
            <a:spLocks noGrp="1"/>
          </p:cNvSpPr>
          <p:nvPr>
            <p:ph type="sldNum" idx="6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CA6749B-4C73-4B1F-8691-8BACBE30701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191880" y="90720"/>
            <a:ext cx="9155880" cy="6105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Problem Statement:</a:t>
            </a:r>
            <a:endParaRPr lang="de-DE" sz="2600" b="1" u="none" strike="noStrike">
              <a:solidFill>
                <a:schemeClr val="dk1"/>
              </a:solidFill>
              <a:effectLst/>
              <a:uFillTx/>
              <a:latin typeface="SRH Headline"/>
            </a:endParaRPr>
          </a:p>
        </p:txBody>
      </p:sp>
      <p:sp>
        <p:nvSpPr>
          <p:cNvPr id="195" name="PlaceHolder 2"/>
          <p:cNvSpPr>
            <a:spLocks noGrp="1"/>
          </p:cNvSpPr>
          <p:nvPr>
            <p:ph/>
          </p:nvPr>
        </p:nvSpPr>
        <p:spPr>
          <a:xfrm>
            <a:off x="276840" y="741600"/>
            <a:ext cx="11610000" cy="5949720"/>
          </a:xfrm>
          <a:prstGeom prst="rect">
            <a:avLst/>
          </a:prstGeom>
          <a:noFill/>
          <a:ln w="0">
            <a:noFill/>
          </a:ln>
        </p:spPr>
        <p:txBody>
          <a:bodyPr numCol="1" spcCol="216000" lIns="0" tIns="0" rIns="0" bIns="0" anchor="t">
            <a:noAutofit/>
          </a:bodyPr>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Static decision thresholds:</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Most traditional credit risk models </a:t>
            </a:r>
            <a:r>
              <a:rPr lang="de-DE" sz="1300" b="1" u="none" strike="noStrike">
                <a:solidFill>
                  <a:srgbClr val="1C1C1C"/>
                </a:solidFill>
                <a:effectLst/>
                <a:uFillTx/>
                <a:latin typeface="SRH Text"/>
                <a:ea typeface="Times New Roman"/>
              </a:rPr>
              <a:t>rely on a fixed decision threshold</a:t>
            </a:r>
            <a:r>
              <a:rPr lang="de-DE" sz="1300" b="0" u="none" strike="noStrike">
                <a:solidFill>
                  <a:srgbClr val="1C1C1C"/>
                </a:solidFill>
                <a:effectLst/>
                <a:uFillTx/>
                <a:latin typeface="SRH Text"/>
                <a:ea typeface="Times New Roman"/>
              </a:rPr>
              <a:t>, commonly 0.5, which does not adequately reflect the changing financial </a:t>
            </a:r>
            <a:r>
              <a:rPr lang="de-DE" sz="1300" b="1" u="none" strike="noStrike">
                <a:solidFill>
                  <a:srgbClr val="1C1C1C"/>
                </a:solidFill>
                <a:effectLst/>
                <a:uFillTx/>
                <a:latin typeface="SRH Text"/>
                <a:ea typeface="Times New Roman"/>
              </a:rPr>
              <a:t>trade-offs between false positives and false negatives</a:t>
            </a:r>
            <a:r>
              <a:rPr lang="de-DE" sz="1300" b="0" u="none" strike="noStrike">
                <a:solidFill>
                  <a:srgbClr val="1C1C1C"/>
                </a:solidFill>
                <a:effectLst/>
                <a:uFillTx/>
                <a:latin typeface="SRH Text"/>
                <a:ea typeface="Times New Roman"/>
              </a:rPr>
              <a:t>. This can lead to suboptimal lending decisions under different risk and cost conditions.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Fixed cost-sensitive learning:</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Although cost-sensitive learning is widely used to account for the unequal consequences of classification errors, penalty structures are generally predefined and fixed. They therefore lack the flexibility to adapt to changing business constraints, operational conditions, and risk preferences.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uncertainty/selective prediction:</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Conventional credit risk models typically provide deterministic </a:t>
            </a:r>
            <a:r>
              <a:rPr lang="de-DE" sz="1300" b="1" u="none" strike="noStrike">
                <a:solidFill>
                  <a:srgbClr val="1C1C1C"/>
                </a:solidFill>
                <a:effectLst/>
                <a:uFillTx/>
                <a:latin typeface="SRH Text"/>
                <a:ea typeface="Times New Roman"/>
              </a:rPr>
              <a:t>binary predictions</a:t>
            </a:r>
            <a:r>
              <a:rPr lang="de-DE" sz="1300" b="0" u="none" strike="noStrike">
                <a:solidFill>
                  <a:srgbClr val="1C1C1C"/>
                </a:solidFill>
                <a:effectLst/>
                <a:uFillTx/>
                <a:latin typeface="SRH Text"/>
                <a:ea typeface="Times New Roman"/>
              </a:rPr>
              <a:t> without explicitly quantifying prediction uncertainty. Consequently, they may automatically make decisions for ambiguous cases where the model is insufficiently confident and human intervention would be more appropriate.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distribution shift:</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Most credit risk models are developed and evaluated under the assumption that the </a:t>
            </a:r>
            <a:r>
              <a:rPr lang="de-DE" sz="1300" b="1" u="none" strike="noStrike">
                <a:solidFill>
                  <a:srgbClr val="1C1C1C"/>
                </a:solidFill>
                <a:effectLst/>
                <a:uFillTx/>
                <a:latin typeface="SRH Text"/>
                <a:ea typeface="Times New Roman"/>
              </a:rPr>
              <a:t>underlying data distribution remains relatively stable</a:t>
            </a:r>
            <a:r>
              <a:rPr lang="de-DE" sz="1300" b="0" u="none" strike="noStrike">
                <a:solidFill>
                  <a:srgbClr val="1C1C1C"/>
                </a:solidFill>
                <a:effectLst/>
                <a:uFillTx/>
                <a:latin typeface="SRH Text"/>
                <a:ea typeface="Times New Roman"/>
              </a:rPr>
              <a:t>.</a:t>
            </a:r>
            <a:r>
              <a:rPr lang="de-DE" sz="1300" b="0" u="none" strike="noStrike">
                <a:solidFill>
                  <a:srgbClr val="000000"/>
                </a:solidFill>
                <a:effectLst/>
                <a:uFillTx/>
                <a:latin typeface="SRH Text"/>
                <a:ea typeface="Times New Roman"/>
              </a:rPr>
              <a:t> In real </a:t>
            </a:r>
            <a:r>
              <a:rPr lang="de-DE" sz="1300" b="0" u="none" strike="noStrike">
                <a:solidFill>
                  <a:srgbClr val="1C1C1C"/>
                </a:solidFill>
                <a:effectLst/>
                <a:uFillTx/>
                <a:latin typeface="SRH Text"/>
                <a:ea typeface="Times New Roman"/>
              </a:rPr>
              <a:t>banking environments, however, economic conditions, customer behavior, and credit patterns continuously change, resulting in data distribution shifts that can reduce model performance and reliability over time.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continuous reliability monitoring:</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Existing approaches often evaluate model performance periodically rather than continuously after deployment. As a result, changes in data distributions, prediction patterns, error rates, and other indicators of model degradation may remain undetected until they cause significant financial or operational consequences.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196" name="PlaceHolder 3"/>
          <p:cNvSpPr>
            <a:spLocks noGrp="1"/>
          </p:cNvSpPr>
          <p:nvPr>
            <p:ph type="dt" idx="6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9DB6D6A-03F7-4651-9BF0-3DB57CD1BFD5}"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197" name="PlaceHolder 4"/>
          <p:cNvSpPr>
            <a:spLocks noGrp="1"/>
          </p:cNvSpPr>
          <p:nvPr>
            <p:ph type="ftr" idx="6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8" name="PlaceHolder 5"/>
          <p:cNvSpPr>
            <a:spLocks noGrp="1"/>
          </p:cNvSpPr>
          <p:nvPr>
            <p:ph type="sldNum" idx="6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910D55A-9757-4C56-8FDD-D002587B2A7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Table of Content</a:t>
            </a:r>
            <a:endParaRPr lang="de-DE" sz="2600" b="1" u="none" strike="noStrike">
              <a:solidFill>
                <a:schemeClr val="dk1"/>
              </a:solidFill>
              <a:effectLst/>
              <a:uFillTx/>
              <a:latin typeface="SRH Headline"/>
            </a:endParaRPr>
          </a:p>
        </p:txBody>
      </p:sp>
      <p:sp>
        <p:nvSpPr>
          <p:cNvPr id="200"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Problem Statement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Methodology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Data Preprocessing</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Explainability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Selective Prediction / Risk-Based Decision System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Monitoring</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Results &amp; Key Findings </a:t>
            </a:r>
            <a:endParaRPr lang="de-DE" sz="1800" b="0" u="none" strike="noStrike">
              <a:solidFill>
                <a:schemeClr val="dk1"/>
              </a:solidFill>
              <a:effectLst/>
              <a:uFillTx/>
              <a:latin typeface="SRH Text"/>
            </a:endParaRPr>
          </a:p>
        </p:txBody>
      </p:sp>
      <p:sp>
        <p:nvSpPr>
          <p:cNvPr id="201" name="PlaceHolder 3"/>
          <p:cNvSpPr>
            <a:spLocks noGrp="1"/>
          </p:cNvSpPr>
          <p:nvPr>
            <p:ph type="dt" idx="6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6DDAACA-BE81-43DB-B5D6-2C017E818603}"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02" name="PlaceHolder 4"/>
          <p:cNvSpPr>
            <a:spLocks noGrp="1"/>
          </p:cNvSpPr>
          <p:nvPr>
            <p:ph type="ftr" idx="6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3" name="PlaceHolder 5"/>
          <p:cNvSpPr>
            <a:spLocks noGrp="1"/>
          </p:cNvSpPr>
          <p:nvPr>
            <p:ph type="sldNum" idx="6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C706CC0-FBC8-408F-8D2F-D827C76280F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Dataset &amp; Data Description </a:t>
            </a:r>
            <a:endParaRPr lang="de-DE" sz="2600" b="1" u="none" strike="noStrike">
              <a:solidFill>
                <a:schemeClr val="dk1"/>
              </a:solidFill>
              <a:effectLst/>
              <a:uFillTx/>
              <a:latin typeface="SRH Headline"/>
            </a:endParaRPr>
          </a:p>
        </p:txBody>
      </p:sp>
      <p:sp>
        <p:nvSpPr>
          <p:cNvPr id="205"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indent="0" algn="just" defTabSz="914400">
              <a:lnSpc>
                <a:spcPct val="110000"/>
              </a:lnSpc>
              <a:spcBef>
                <a:spcPts val="1191"/>
              </a:spcBef>
              <a:spcAft>
                <a:spcPts val="992"/>
              </a:spcAft>
              <a:buNone/>
              <a:tabLst>
                <a:tab pos="0" algn="l"/>
              </a:tabLst>
            </a:pPr>
            <a:r>
              <a:rPr lang="en-US" sz="1600" b="1" u="none" strike="noStrike">
                <a:solidFill>
                  <a:srgbClr val="FF4000"/>
                </a:solidFill>
                <a:effectLst/>
                <a:uFillTx/>
                <a:latin typeface="SRH Text"/>
                <a:ea typeface="SRH Text"/>
              </a:rPr>
              <a:t>Dataset Overview </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This dataset contains </a:t>
            </a:r>
            <a:r>
              <a:rPr lang="en-US" sz="1600" b="1" u="none" strike="noStrike">
                <a:solidFill>
                  <a:srgbClr val="333333"/>
                </a:solidFill>
                <a:effectLst/>
                <a:uFillTx/>
                <a:latin typeface="SRH Text"/>
                <a:ea typeface="SRH Text"/>
              </a:rPr>
              <a:t>50,000 loan application records </a:t>
            </a:r>
            <a:r>
              <a:rPr lang="en-US" sz="1600" b="0" u="none" strike="noStrike">
                <a:solidFill>
                  <a:srgbClr val="333333"/>
                </a:solidFill>
                <a:effectLst/>
                <a:uFillTx/>
                <a:latin typeface="SRH Text"/>
                <a:ea typeface="SRH Text"/>
              </a:rPr>
              <a:t>with </a:t>
            </a:r>
            <a:r>
              <a:rPr lang="en-US" sz="1600" b="1" u="none" strike="noStrike">
                <a:solidFill>
                  <a:srgbClr val="333333"/>
                </a:solidFill>
                <a:effectLst/>
                <a:uFillTx/>
                <a:latin typeface="SRH Text"/>
                <a:ea typeface="SRH Text"/>
              </a:rPr>
              <a:t>20 features</a:t>
            </a:r>
            <a:r>
              <a:rPr lang="en-US" sz="1600" b="0" u="none" strike="noStrike">
                <a:solidFill>
                  <a:srgbClr val="333333"/>
                </a:solidFill>
                <a:effectLst/>
                <a:uFillTx/>
                <a:latin typeface="SRH Text"/>
                <a:ea typeface="SRH Text"/>
              </a:rPr>
              <a:t> describing applicants' demographic characteristics, employment and financial status, credit history, and loan information. It is designed for credit risk assessment and loan outcome prediction using machine learning methods.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includes information such as age, occupation status, employment history, annual income, credit score, savings, debt, previous defaults, delinquencies, loan amount, interest rate, and several financial ratios.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also contains categorical variables describing the applicant's employment status, product type, and loan intent, together with numerical variables representing the applicant's financial and credit characteristics.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target variable, </a:t>
            </a:r>
            <a:r>
              <a:rPr lang="en-US" sz="1600" b="1" u="none" strike="noStrike">
                <a:solidFill>
                  <a:srgbClr val="333333"/>
                </a:solidFill>
                <a:effectLst/>
                <a:uFillTx/>
                <a:latin typeface="SRH Text"/>
                <a:ea typeface="SRH Text"/>
              </a:rPr>
              <a:t>loan_status</a:t>
            </a:r>
            <a:r>
              <a:rPr lang="en-US" sz="1600" b="0" u="none" strike="noStrike">
                <a:solidFill>
                  <a:srgbClr val="333333"/>
                </a:solidFill>
                <a:effectLst/>
                <a:uFillTx/>
                <a:latin typeface="SRH Text"/>
                <a:ea typeface="SRH Text"/>
              </a:rPr>
              <a:t>, represents the loan outcome:</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0 = Rejected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1 = Approved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endParaRPr lang="de-DE" sz="1600" b="0" u="none" strike="noStrike">
              <a:solidFill>
                <a:schemeClr val="dk1"/>
              </a:solidFill>
              <a:effectLst/>
              <a:uFillTx/>
              <a:latin typeface="SRH Text"/>
            </a:endParaRPr>
          </a:p>
        </p:txBody>
      </p:sp>
      <p:sp>
        <p:nvSpPr>
          <p:cNvPr id="206" name="PlaceHolder 3"/>
          <p:cNvSpPr>
            <a:spLocks noGrp="1"/>
          </p:cNvSpPr>
          <p:nvPr>
            <p:ph type="dt" idx="7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B00DA58-E37D-4D11-B23C-DB85E39EB48E}"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07" name="PlaceHolder 4"/>
          <p:cNvSpPr>
            <a:spLocks noGrp="1"/>
          </p:cNvSpPr>
          <p:nvPr>
            <p:ph type="ftr" idx="7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8" name="PlaceHolder 5"/>
          <p:cNvSpPr>
            <a:spLocks noGrp="1"/>
          </p:cNvSpPr>
          <p:nvPr>
            <p:ph type="sldNum" idx="7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7E62923-8B28-46A2-AF15-3422792C725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Data Processing</a:t>
            </a:r>
            <a:endParaRPr lang="de-DE" sz="2600" b="1" u="none" strike="noStrike">
              <a:solidFill>
                <a:srgbClr val="FF4000"/>
              </a:solidFill>
              <a:effectLst/>
              <a:uFillTx/>
              <a:latin typeface="SRH Headline"/>
            </a:endParaRPr>
          </a:p>
        </p:txBody>
      </p:sp>
      <p:sp>
        <p:nvSpPr>
          <p:cNvPr id="210"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Checking Corrupted Rows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purpose of this step was to identify invalid, corrupted, or logically inconsistent records before applying machine learning models.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code performed the following validation processes:</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Range Validation:</a:t>
            </a:r>
            <a:r>
              <a:rPr lang="en-US" sz="1500" b="1" u="none" strike="noStrike">
                <a:solidFill>
                  <a:srgbClr val="000000"/>
                </a:solidFill>
                <a:effectLst/>
                <a:uFillTx/>
                <a:latin typeface="SRH Text"/>
                <a:ea typeface="SRH Text"/>
              </a:rPr>
              <a:t> </a:t>
            </a:r>
            <a:r>
              <a:rPr lang="en-US" sz="1500" b="0" u="none" strike="noStrike">
                <a:solidFill>
                  <a:srgbClr val="000000"/>
                </a:solidFill>
                <a:effectLst/>
                <a:uFillTx/>
                <a:latin typeface="SRH Text"/>
                <a:ea typeface="SRH Text"/>
              </a:rPr>
              <a:t>Checked realistic ranges for age, credit score, employment, and credit history.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Negative Values:</a:t>
            </a:r>
            <a:r>
              <a:rPr lang="en-US" sz="1500" b="0" u="none" strike="noStrike">
                <a:solidFill>
                  <a:srgbClr val="000000"/>
                </a:solidFill>
                <a:effectLst/>
                <a:uFillTx/>
                <a:latin typeface="SRH Text"/>
                <a:ea typeface="SRH Text"/>
              </a:rPr>
              <a:t> Detected invalid negative values in financial and credit variables.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Ratio Validation:</a:t>
            </a:r>
            <a:r>
              <a:rPr lang="en-US" sz="1500" b="0" u="none" strike="noStrike">
                <a:solidFill>
                  <a:srgbClr val="000000"/>
                </a:solidFill>
                <a:effectLst/>
                <a:uFillTx/>
                <a:latin typeface="SRH Text"/>
                <a:ea typeface="SRH Text"/>
              </a:rPr>
              <a:t> Verified Debt-to-Income Ratio, Loan-to-Income Ratio, and payment-to-income ratios.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Text Validation:</a:t>
            </a:r>
            <a:r>
              <a:rPr lang="en-US" sz="1500" b="0" u="none" strike="noStrike">
                <a:solidFill>
                  <a:srgbClr val="000000"/>
                </a:solidFill>
                <a:effectLst/>
                <a:uFillTx/>
                <a:latin typeface="SRH Text"/>
                <a:ea typeface="SRH Text"/>
              </a:rPr>
              <a:t> Used Regex to identify malformed categorical values and validated loan_status.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11" name="PlaceHolder 3"/>
          <p:cNvSpPr>
            <a:spLocks noGrp="1"/>
          </p:cNvSpPr>
          <p:nvPr>
            <p:ph type="dt" idx="7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B25EB5F-C303-468D-8AF5-5E71C2877989}"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12" name="PlaceHolder 4"/>
          <p:cNvSpPr>
            <a:spLocks noGrp="1"/>
          </p:cNvSpPr>
          <p:nvPr>
            <p:ph type="ftr" idx="7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3" name="PlaceHolder 5"/>
          <p:cNvSpPr>
            <a:spLocks noGrp="1"/>
          </p:cNvSpPr>
          <p:nvPr>
            <p:ph type="sldNum" idx="7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DC86594-0510-4E2C-9210-A7FEE408B6C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15" name="PlaceHolder 2"/>
          <p:cNvSpPr>
            <a:spLocks noGrp="1"/>
          </p:cNvSpPr>
          <p:nvPr>
            <p:ph/>
          </p:nvPr>
        </p:nvSpPr>
        <p:spPr>
          <a:xfrm>
            <a:off x="228600" y="457200"/>
            <a:ext cx="10803600" cy="59432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Data Type Standardization</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Ensured all key numerical variables use consistent data types.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Missing Value Analysis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missing values that could affect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Categorical Data Consistency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Examined categorical variables for inconsistent labels.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potential duplicates such as “Male” and “male.”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Duplicate Records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dataset was checked for duplicated observations.</a:t>
            </a:r>
            <a:endParaRPr lang="de-DE" sz="1300" b="0" u="none" strike="noStrike">
              <a:solidFill>
                <a:schemeClr val="dk1"/>
              </a:solidFill>
              <a:effectLst/>
              <a:uFillTx/>
              <a:latin typeface="SRH Text"/>
            </a:endParaRPr>
          </a:p>
        </p:txBody>
      </p:sp>
      <p:sp>
        <p:nvSpPr>
          <p:cNvPr id="216" name="PlaceHolder 3"/>
          <p:cNvSpPr>
            <a:spLocks noGrp="1"/>
          </p:cNvSpPr>
          <p:nvPr>
            <p:ph type="dt" idx="7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AC9D7D6-4029-4BC8-B545-C9820C3CA27F}"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17" name="PlaceHolder 4"/>
          <p:cNvSpPr>
            <a:spLocks noGrp="1"/>
          </p:cNvSpPr>
          <p:nvPr>
            <p:ph type="ftr" idx="7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8" name="PlaceHolder 5"/>
          <p:cNvSpPr>
            <a:spLocks noGrp="1"/>
          </p:cNvSpPr>
          <p:nvPr>
            <p:ph type="sldNum" idx="7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0DF8F51-D48F-4F12-AF52-0EEFD89319A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p:cNvPicPr/>
          <p:nvPr/>
        </p:nvPicPr>
        <p:blipFill>
          <a:blip r:embed="rId1"/>
          <a:stretch/>
        </p:blipFill>
        <p:spPr>
          <a:xfrm>
            <a:off x="1706760" y="1076760"/>
            <a:ext cx="8569800" cy="51753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Exploratory Data Analysis (EDA) </a:t>
            </a:r>
            <a:endParaRPr lang="de-DE" sz="2600" b="1" u="none" strike="noStrike">
              <a:solidFill>
                <a:srgbClr val="FF4000"/>
              </a:solidFill>
              <a:effectLst/>
              <a:uFillTx/>
              <a:latin typeface="SRH Headline"/>
            </a:endParaRPr>
          </a:p>
        </p:txBody>
      </p:sp>
      <p:sp>
        <p:nvSpPr>
          <p:cNvPr id="221" name="PlaceHolder 2"/>
          <p:cNvSpPr>
            <a:spLocks noGrp="1"/>
          </p:cNvSpPr>
          <p:nvPr>
            <p:ph/>
          </p:nvPr>
        </p:nvSpPr>
        <p:spPr>
          <a:xfrm>
            <a:off x="228600" y="696600"/>
            <a:ext cx="52574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Statistical Overview</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The study uses a real-world dataset containing loan application records. This includes: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Borrower information: age, employment, marital status, income</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Loan characteristics: amount, term, purpose, interest rate</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Credit metrics: credit score, past defaults, utilization ratios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Target variable: binary classification (1 = default, 0 = no default)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Applicant Characteristics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Age: 18–70 years, with a mean of 35.0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0–39.9 years, with a mean of 7.45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€15,000–€250,000, with a mean of approximately €50,063</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Credit score: 348–850, with a mean of 643.6</a:t>
            </a:r>
            <a:endParaRPr lang="de-DE" sz="1100" b="0" u="none" strike="noStrike">
              <a:solidFill>
                <a:schemeClr val="dk1"/>
              </a:solidFill>
              <a:effectLst/>
              <a:uFillTx/>
              <a:latin typeface="SRH Text"/>
            </a:endParaRPr>
          </a:p>
        </p:txBody>
      </p:sp>
      <p:sp>
        <p:nvSpPr>
          <p:cNvPr id="222" name="PlaceHolder 3"/>
          <p:cNvSpPr>
            <a:spLocks noGrp="1"/>
          </p:cNvSpPr>
          <p:nvPr>
            <p:ph type="dt" idx="7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613CDD0-7EC6-457C-9188-67CE58CA84C8}"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23" name="PlaceHolder 4"/>
          <p:cNvSpPr>
            <a:spLocks noGrp="1"/>
          </p:cNvSpPr>
          <p:nvPr>
            <p:ph type="ftr" idx="8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4" name="PlaceHolder 5"/>
          <p:cNvSpPr>
            <a:spLocks noGrp="1"/>
          </p:cNvSpPr>
          <p:nvPr>
            <p:ph type="sldNum" idx="8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0B7EA4F-8F56-4651-A19A-3DAC2CC87AB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25" name="PlaceHolder 151"/>
          <p:cNvSpPr/>
          <p:nvPr/>
        </p:nvSpPr>
        <p:spPr>
          <a:xfrm>
            <a:off x="6348960" y="1272960"/>
            <a:ext cx="5257440" cy="53560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Key features: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Numerical: income, debt-to-income ratio, credit history length</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Categorical: job type, education, residence status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Derived: risk score, monthly debt obligations </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Outlier Analysis </a:t>
            </a:r>
            <a:endParaRPr lang="de-DE" sz="2600" b="1" u="none" strike="noStrike">
              <a:solidFill>
                <a:srgbClr val="FF4000"/>
              </a:solidFill>
              <a:effectLst/>
              <a:uFillTx/>
              <a:latin typeface="SRH Headline"/>
            </a:endParaRPr>
          </a:p>
        </p:txBody>
      </p:sp>
      <p:sp>
        <p:nvSpPr>
          <p:cNvPr id="227" name="PlaceHolder 2"/>
          <p:cNvSpPr>
            <a:spLocks noGrp="1"/>
          </p:cNvSpPr>
          <p:nvPr>
            <p:ph/>
          </p:nvPr>
        </p:nvSpPr>
        <p:spPr>
          <a:xfrm>
            <a:off x="228600" y="6966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Most variables contained normal-range observations with some outliers.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highest number of </a:t>
            </a:r>
            <a:r>
              <a:rPr lang="en-US" sz="1300" b="1" u="none" strike="noStrike">
                <a:solidFill>
                  <a:srgbClr val="333333"/>
                </a:solidFill>
                <a:effectLst/>
                <a:uFillTx/>
                <a:latin typeface="SRH Text"/>
                <a:ea typeface="SRH Text"/>
              </a:rPr>
              <a:t>normal outliers</a:t>
            </a:r>
            <a:r>
              <a:rPr lang="en-US" sz="1300" b="0" u="none" strike="noStrike">
                <a:solidFill>
                  <a:srgbClr val="333333"/>
                </a:solidFill>
                <a:effectLst/>
                <a:uFillTx/>
                <a:latin typeface="SRH Text"/>
                <a:ea typeface="SRH Text"/>
              </a:rPr>
              <a:t> was found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6,508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2,932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2,355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Years employed: 1,373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Extreme outliers</a:t>
            </a:r>
            <a:r>
              <a:rPr lang="en-US" sz="1300" b="0" u="none" strike="noStrike">
                <a:solidFill>
                  <a:srgbClr val="333333"/>
                </a:solidFill>
                <a:effectLst/>
                <a:uFillTx/>
                <a:latin typeface="SRH Text"/>
                <a:ea typeface="SRH Text"/>
              </a:rPr>
              <a:t> were mainly observed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4,353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859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515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No extreme outliers were detected in age, credit score, loan amount, interest rate, or the ratio variables.</a:t>
            </a:r>
            <a:endParaRPr lang="de-DE" sz="1300" b="0" u="none" strike="noStrike">
              <a:solidFill>
                <a:schemeClr val="dk1"/>
              </a:solidFill>
              <a:effectLst/>
              <a:uFillTx/>
              <a:latin typeface="SRH Text"/>
            </a:endParaRPr>
          </a:p>
        </p:txBody>
      </p:sp>
      <p:sp>
        <p:nvSpPr>
          <p:cNvPr id="228" name="PlaceHolder 3"/>
          <p:cNvSpPr>
            <a:spLocks noGrp="1"/>
          </p:cNvSpPr>
          <p:nvPr>
            <p:ph type="dt" idx="8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72DA86B-CC2E-4B73-ACF2-185B3CEA9BBD}"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29" name="PlaceHolder 4"/>
          <p:cNvSpPr>
            <a:spLocks noGrp="1"/>
          </p:cNvSpPr>
          <p:nvPr>
            <p:ph type="ftr" idx="8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0" name="PlaceHolder 5"/>
          <p:cNvSpPr>
            <a:spLocks noGrp="1"/>
          </p:cNvSpPr>
          <p:nvPr>
            <p:ph type="sldNum" idx="8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B898950-E708-405C-AB21-295A5A751F9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31" name=""/>
          <p:cNvPicPr/>
          <p:nvPr/>
        </p:nvPicPr>
        <p:blipFill>
          <a:blip r:embed="rId1"/>
          <a:stretch/>
        </p:blipFill>
        <p:spPr>
          <a:xfrm>
            <a:off x="4800600" y="1828800"/>
            <a:ext cx="7038360" cy="43430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3"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Transformation Strategy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Highly Skewed Features → Log Transformation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Compresses extreme values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Reduces right-skewness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Produces more stable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Continuous Features → StandardScaler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Centers features around zero</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Normalizes the scale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Prevents large-scale variables from dominating model training</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34" name="PlaceHolder 3"/>
          <p:cNvSpPr>
            <a:spLocks noGrp="1"/>
          </p:cNvSpPr>
          <p:nvPr>
            <p:ph type="dt" idx="8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E404667-6F93-4A9A-9BDD-64F0FA8F6C97}"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35" name="PlaceHolder 4"/>
          <p:cNvSpPr>
            <a:spLocks noGrp="1"/>
          </p:cNvSpPr>
          <p:nvPr>
            <p:ph type="ftr" idx="8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6" name="PlaceHolder 5"/>
          <p:cNvSpPr>
            <a:spLocks noGrp="1"/>
          </p:cNvSpPr>
          <p:nvPr>
            <p:ph type="sldNum" idx="8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6AE2684-8FF8-4730-841C-5C55651FF96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37" name=""/>
          <p:cNvPicPr/>
          <p:nvPr/>
        </p:nvPicPr>
        <p:blipFill>
          <a:blip r:embed="rId1"/>
          <a:stretch/>
        </p:blipFill>
        <p:spPr>
          <a:xfrm>
            <a:off x="5832720" y="1371600"/>
            <a:ext cx="5368320" cy="4571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9" name="PlaceHolder 2"/>
          <p:cNvSpPr>
            <a:spLocks noGrp="1"/>
          </p:cNvSpPr>
          <p:nvPr>
            <p:ph/>
          </p:nvPr>
        </p:nvSpPr>
        <p:spPr>
          <a:xfrm>
            <a:off x="228600" y="914400"/>
            <a:ext cx="11201040" cy="456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Effect of Log Transformation on Skewness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500" b="0" u="none" strike="noStrike">
              <a:solidFill>
                <a:schemeClr val="dk1"/>
              </a:solidFill>
              <a:effectLst/>
              <a:uFillTx/>
              <a:latin typeface="SRH Text"/>
            </a:endParaRPr>
          </a:p>
        </p:txBody>
      </p:sp>
      <p:sp>
        <p:nvSpPr>
          <p:cNvPr id="240" name="PlaceHolder 3"/>
          <p:cNvSpPr>
            <a:spLocks noGrp="1"/>
          </p:cNvSpPr>
          <p:nvPr>
            <p:ph type="dt" idx="8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52F9340-6BF3-4B9C-A678-F92E6213E4F0}"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41" name="PlaceHolder 4"/>
          <p:cNvSpPr>
            <a:spLocks noGrp="1"/>
          </p:cNvSpPr>
          <p:nvPr>
            <p:ph type="ftr" idx="8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2" name="PlaceHolder 5"/>
          <p:cNvSpPr>
            <a:spLocks noGrp="1"/>
          </p:cNvSpPr>
          <p:nvPr>
            <p:ph type="sldNum" idx="9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FBC8181-BE76-4B83-B27A-A16A34E32BD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43" name=""/>
          <p:cNvPicPr/>
          <p:nvPr/>
        </p:nvPicPr>
        <p:blipFill>
          <a:blip r:embed="rId1"/>
          <a:stretch/>
        </p:blipFill>
        <p:spPr>
          <a:xfrm>
            <a:off x="457200" y="1600200"/>
            <a:ext cx="8673480" cy="256716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sp>
        <p:nvSpPr>
          <p:cNvPr id="245"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Spearman rank correlation (ρ) was used to examine relationships between the engineered numerical features and the target variable.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Important Feature Relationships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Some predictors also show relatively strong correlations with each other: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 Payment-to-Income: ρ = 0.815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 Amount ↔ Loan-to-Income: ρ = 0.755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Current Debt ↔ Debt-to-Income: ρ = 0.716</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Age ↔ Credit History: ρ = 0.664</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Annual Income ↔ Current Debt: ρ = 0.657</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46" name="PlaceHolder 3"/>
          <p:cNvSpPr>
            <a:spLocks noGrp="1"/>
          </p:cNvSpPr>
          <p:nvPr>
            <p:ph type="dt" idx="9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A616BF1-855F-4F79-8274-9FE235CB84A4}"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47" name="PlaceHolder 4"/>
          <p:cNvSpPr>
            <a:spLocks noGrp="1"/>
          </p:cNvSpPr>
          <p:nvPr>
            <p:ph type="ftr" idx="9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8" name="PlaceHolder 5"/>
          <p:cNvSpPr>
            <a:spLocks noGrp="1"/>
          </p:cNvSpPr>
          <p:nvPr>
            <p:ph type="sldNum" idx="9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1975B64-5F48-4689-B27C-3A43756229C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49" name=""/>
          <p:cNvPicPr/>
          <p:nvPr/>
        </p:nvPicPr>
        <p:blipFill>
          <a:blip r:embed="rId1"/>
          <a:stretch/>
        </p:blipFill>
        <p:spPr>
          <a:xfrm>
            <a:off x="6071400" y="1600200"/>
            <a:ext cx="6075720" cy="47660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pic>
        <p:nvPicPr>
          <p:cNvPr id="251" name=""/>
          <p:cNvPicPr/>
          <p:nvPr/>
        </p:nvPicPr>
        <p:blipFill>
          <a:blip r:embed="rId1"/>
          <a:stretch/>
        </p:blipFill>
        <p:spPr>
          <a:xfrm>
            <a:off x="1600200" y="914400"/>
            <a:ext cx="8457840" cy="5703840"/>
          </a:xfrm>
          <a:prstGeom prst="rect">
            <a:avLst/>
          </a:prstGeom>
          <a:noFill/>
          <a:ln w="0">
            <a:noFill/>
          </a:ln>
        </p:spPr>
      </p:pic>
      <p:sp>
        <p:nvSpPr>
          <p:cNvPr id="252" name="PlaceHolder 2"/>
          <p:cNvSpPr>
            <a:spLocks noGrp="1"/>
          </p:cNvSpPr>
          <p:nvPr>
            <p:ph type="dt" idx="9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724293D-1CD5-4F8A-AB35-E96CE2918BCB}"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53" name="PlaceHolder 3"/>
          <p:cNvSpPr>
            <a:spLocks noGrp="1"/>
          </p:cNvSpPr>
          <p:nvPr>
            <p:ph type="ftr" idx="9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4" name="PlaceHolder 4"/>
          <p:cNvSpPr>
            <a:spLocks noGrp="1"/>
          </p:cNvSpPr>
          <p:nvPr>
            <p:ph type="sldNum" idx="9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A651654-48AC-4960-B165-F6159D58D49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Feature Importance</a:t>
            </a:r>
            <a:r>
              <a:rPr lang="de-DE" sz="2600" b="1" u="none" strike="noStrike">
                <a:solidFill>
                  <a:srgbClr val="FF4000"/>
                </a:solidFill>
                <a:effectLst/>
                <a:uFillTx/>
                <a:latin typeface="SRH Headline"/>
                <a:ea typeface="SRH Headline"/>
              </a:rPr>
              <a:t> — XGBoost </a:t>
            </a:r>
            <a:endParaRPr lang="de-DE" sz="2600" b="1" u="none" strike="noStrike">
              <a:solidFill>
                <a:schemeClr val="dk1"/>
              </a:solidFill>
              <a:effectLst/>
              <a:uFillTx/>
              <a:latin typeface="SRH Headline"/>
            </a:endParaRPr>
          </a:p>
        </p:txBody>
      </p:sp>
      <p:sp>
        <p:nvSpPr>
          <p:cNvPr id="256" name="PlaceHolder 2"/>
          <p:cNvSpPr>
            <a:spLocks noGrp="1"/>
          </p:cNvSpPr>
          <p:nvPr>
            <p:ph/>
          </p:nvPr>
        </p:nvSpPr>
        <p:spPr>
          <a:xfrm>
            <a:off x="228600" y="914400"/>
            <a:ext cx="48002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XGBoost was used to identify the most influential features for credit-risk prediction.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The most important features were: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Credit score: 22.8%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Delinquencies: 14.9%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Debt-to-income ratio: 14.2%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No features had importance below 0.02,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so no feature was removed based on this criterion.</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57" name="PlaceHolder 3"/>
          <p:cNvSpPr>
            <a:spLocks noGrp="1"/>
          </p:cNvSpPr>
          <p:nvPr>
            <p:ph type="dt" idx="9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7A5393C-80EF-4FD1-AB3B-ED401E0AE3A1}"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58" name="PlaceHolder 4"/>
          <p:cNvSpPr>
            <a:spLocks noGrp="1"/>
          </p:cNvSpPr>
          <p:nvPr>
            <p:ph type="ftr" idx="9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9" name="PlaceHolder 5"/>
          <p:cNvSpPr>
            <a:spLocks noGrp="1"/>
          </p:cNvSpPr>
          <p:nvPr>
            <p:ph type="sldNum" idx="9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189958D-4DB1-4C7D-BC25-784D98B8BEC5}"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60" name=""/>
          <p:cNvPicPr/>
          <p:nvPr/>
        </p:nvPicPr>
        <p:blipFill>
          <a:blip r:embed="rId1"/>
          <a:stretch/>
        </p:blipFill>
        <p:spPr>
          <a:xfrm>
            <a:off x="4755240" y="1600200"/>
            <a:ext cx="7169760" cy="38858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FF4000"/>
                </a:solidFill>
                <a:effectLst/>
                <a:uFillTx/>
                <a:latin typeface="SRH Headline"/>
                <a:ea typeface="SRH Headline"/>
              </a:rPr>
              <a:t>Permutation Feature Importance</a:t>
            </a:r>
            <a:endParaRPr lang="de-DE" sz="2600" b="1" u="none" strike="noStrike">
              <a:solidFill>
                <a:schemeClr val="dk1"/>
              </a:solidFill>
              <a:effectLst/>
              <a:uFillTx/>
              <a:latin typeface="SRH Headline"/>
            </a:endParaRPr>
          </a:p>
        </p:txBody>
      </p:sp>
      <p:sp>
        <p:nvSpPr>
          <p:cNvPr id="262" name="PlaceHolder 2"/>
          <p:cNvSpPr>
            <a:spLocks noGrp="1"/>
          </p:cNvSpPr>
          <p:nvPr>
            <p:ph/>
          </p:nvPr>
        </p:nvSpPr>
        <p:spPr>
          <a:xfrm>
            <a:off x="228600" y="914400"/>
            <a:ext cx="10515240" cy="5486040"/>
          </a:xfrm>
          <a:prstGeom prst="rect">
            <a:avLst/>
          </a:prstGeom>
          <a:noFill/>
          <a:ln w="0">
            <a:noFill/>
          </a:ln>
        </p:spPr>
        <p:txBody>
          <a:bodyPr numCol="1" spcCol="216000" lIns="0" tIns="0" rIns="0" bIns="0" anchor="t">
            <a:noAutofit/>
          </a:bodyPr>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 method to measure the importance of each feature in a machine learning model.</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Idea: Randomly shuffle a feature’s values and see how the model performance changes.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1" u="none" strike="noStrike">
                <a:solidFill>
                  <a:schemeClr val="dk1"/>
                </a:solidFill>
                <a:effectLst/>
                <a:uFillTx/>
                <a:latin typeface="SRH Text"/>
                <a:ea typeface="SRH Text"/>
              </a:rPr>
              <a:t>How it works: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Train the model on the data and calculate </a:t>
            </a:r>
            <a:r>
              <a:rPr lang="en-US" sz="1300" b="1" u="none" strike="noStrike">
                <a:solidFill>
                  <a:schemeClr val="dk1"/>
                </a:solidFill>
                <a:effectLst/>
                <a:uFillTx/>
                <a:latin typeface="SRH Text"/>
                <a:ea typeface="SRH Text"/>
              </a:rPr>
              <a:t>baseline performance</a:t>
            </a:r>
            <a:r>
              <a:rPr lang="en-US" sz="1300" b="0" u="none" strike="noStrike">
                <a:solidFill>
                  <a:schemeClr val="dk1"/>
                </a:solidFill>
                <a:effectLst/>
                <a:uFillTx/>
                <a:latin typeface="SRH Text"/>
                <a:ea typeface="SRH Text"/>
              </a:rPr>
              <a:t> (e.g., accuracy, R²).</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For each feature: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Shuffle its values randomly.</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Re-evaluate the model performance.</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Compare performance: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Big drop in performance → feature is very important</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Little or no change → feature is less important</a:t>
            </a:r>
            <a:endParaRPr lang="de-DE" sz="1300" b="0" u="none" strike="noStrike">
              <a:solidFill>
                <a:schemeClr val="dk1"/>
              </a:solidFill>
              <a:effectLst/>
              <a:uFillTx/>
              <a:latin typeface="SRH Text"/>
            </a:endParaRPr>
          </a:p>
          <a:p>
            <a:pPr marL="285840"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p:txBody>
      </p:sp>
      <p:sp>
        <p:nvSpPr>
          <p:cNvPr id="263" name="PlaceHolder 3"/>
          <p:cNvSpPr>
            <a:spLocks noGrp="1"/>
          </p:cNvSpPr>
          <p:nvPr>
            <p:ph type="dt" idx="10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2D1CAE2-0618-44CC-A5D1-F079D07D16EF}"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64" name="PlaceHolder 4"/>
          <p:cNvSpPr>
            <a:spLocks noGrp="1"/>
          </p:cNvSpPr>
          <p:nvPr>
            <p:ph type="ftr" idx="10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5" name="PlaceHolder 5"/>
          <p:cNvSpPr>
            <a:spLocks noGrp="1"/>
          </p:cNvSpPr>
          <p:nvPr>
            <p:ph type="sldNum" idx="10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7996F08-F949-4F3B-BA68-8E056404E3D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Permutation Importance Analysis</a:t>
            </a:r>
            <a:endParaRPr lang="de-DE" sz="2600" b="1" u="none" strike="noStrike">
              <a:solidFill>
                <a:schemeClr val="dk1"/>
              </a:solidFill>
              <a:effectLst/>
              <a:uFillTx/>
              <a:latin typeface="SRH Headline"/>
            </a:endParaRPr>
          </a:p>
        </p:txBody>
      </p:sp>
      <p:sp>
        <p:nvSpPr>
          <p:cNvPr id="267" name="PlaceHolder 2"/>
          <p:cNvSpPr>
            <a:spLocks noGrp="1"/>
          </p:cNvSpPr>
          <p:nvPr>
            <p:ph/>
          </p:nvPr>
        </p:nvSpPr>
        <p:spPr>
          <a:xfrm>
            <a:off x="228600" y="914400"/>
            <a:ext cx="61718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Permutation importance was used to measure the actual impact of each feature on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0.177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0.112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0.033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Features such as annual income and savings assets showed almost no impact.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Negative or near-zero importance indicates that shuffling these features did not improve or slightly improved—model performance.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68" name="PlaceHolder 3"/>
          <p:cNvSpPr>
            <a:spLocks noGrp="1"/>
          </p:cNvSpPr>
          <p:nvPr>
            <p:ph type="dt" idx="10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E757DA9-66F1-45FF-BCD6-C1AD1273370E}"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69" name="PlaceHolder 4"/>
          <p:cNvSpPr>
            <a:spLocks noGrp="1"/>
          </p:cNvSpPr>
          <p:nvPr>
            <p:ph type="ftr" idx="10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0" name="PlaceHolder 5"/>
          <p:cNvSpPr>
            <a:spLocks noGrp="1"/>
          </p:cNvSpPr>
          <p:nvPr>
            <p:ph type="sldNum" idx="10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93419F0-A9B4-42FE-BB86-8A15860A96A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71" name=""/>
          <p:cNvPicPr/>
          <p:nvPr/>
        </p:nvPicPr>
        <p:blipFill>
          <a:blip r:embed="rId1"/>
          <a:stretch/>
        </p:blipFill>
        <p:spPr>
          <a:xfrm>
            <a:off x="6406920" y="2044800"/>
            <a:ext cx="5413320" cy="274284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SHAP-Based Feature Importance </a:t>
            </a:r>
            <a:endParaRPr lang="de-DE" sz="2600" b="1" u="none" strike="noStrike">
              <a:solidFill>
                <a:schemeClr val="dk1"/>
              </a:solidFill>
              <a:effectLst/>
              <a:uFillTx/>
              <a:latin typeface="SRH Headline"/>
            </a:endParaRPr>
          </a:p>
        </p:txBody>
      </p:sp>
      <p:sp>
        <p:nvSpPr>
          <p:cNvPr id="273" name="PlaceHolder 2"/>
          <p:cNvSpPr>
            <a:spLocks noGrp="1"/>
          </p:cNvSpPr>
          <p:nvPr>
            <p:ph/>
          </p:nvPr>
        </p:nvSpPr>
        <p:spPr>
          <a:xfrm>
            <a:off x="228600" y="696600"/>
            <a:ext cx="61718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SHAP was used to measure how strongly each feature contributes to the model's predictions.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1.477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1.294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history: 0.676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0.566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Delinquencies: 0.557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Savings assets, payment-to-income ratio, and current debt had relatively low contributions.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Based on the SHAP results, low-impact features were considered for removal to simplify the model.</a:t>
            </a:r>
            <a:endParaRPr lang="de-DE" sz="1300" b="0" u="none" strike="noStrike">
              <a:solidFill>
                <a:schemeClr val="dk1"/>
              </a:solidFill>
              <a:effectLst/>
              <a:uFillTx/>
              <a:latin typeface="SRH Text"/>
            </a:endParaRPr>
          </a:p>
        </p:txBody>
      </p:sp>
      <p:sp>
        <p:nvSpPr>
          <p:cNvPr id="274" name="PlaceHolder 3"/>
          <p:cNvSpPr>
            <a:spLocks noGrp="1"/>
          </p:cNvSpPr>
          <p:nvPr>
            <p:ph type="dt" idx="10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B1F4773-5ADF-45FC-9760-47ADB744CA58}"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75" name="PlaceHolder 4"/>
          <p:cNvSpPr>
            <a:spLocks noGrp="1"/>
          </p:cNvSpPr>
          <p:nvPr>
            <p:ph type="ftr" idx="10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6" name="PlaceHolder 5"/>
          <p:cNvSpPr>
            <a:spLocks noGrp="1"/>
          </p:cNvSpPr>
          <p:nvPr>
            <p:ph type="sldNum" idx="10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DF91181-10FA-47E6-B841-F8DCAC70427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77" name=""/>
          <p:cNvPicPr/>
          <p:nvPr/>
        </p:nvPicPr>
        <p:blipFill>
          <a:blip r:embed="rId1"/>
          <a:stretch/>
        </p:blipFill>
        <p:spPr>
          <a:xfrm>
            <a:off x="7086600" y="914400"/>
            <a:ext cx="4403880" cy="5486040"/>
          </a:xfrm>
          <a:prstGeom prst="rect">
            <a:avLst/>
          </a:prstGeom>
          <a:noFill/>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Related Articles</a:t>
            </a:r>
            <a:endParaRPr lang="de-DE" sz="3000" b="1" u="none" strike="noStrike">
              <a:solidFill>
                <a:schemeClr val="dk1"/>
              </a:solidFill>
              <a:effectLst/>
              <a:uFillTx/>
              <a:latin typeface="SRH Headline"/>
            </a:endParaRPr>
          </a:p>
        </p:txBody>
      </p:sp>
      <p:pic>
        <p:nvPicPr>
          <p:cNvPr id="279" name=""/>
          <p:cNvPicPr/>
          <p:nvPr/>
        </p:nvPicPr>
        <p:blipFill>
          <a:blip r:embed="rId1"/>
          <a:stretch/>
        </p:blipFill>
        <p:spPr>
          <a:xfrm>
            <a:off x="2971800" y="3344400"/>
            <a:ext cx="5486400" cy="3211920"/>
          </a:xfrm>
          <a:prstGeom prst="rect">
            <a:avLst/>
          </a:prstGeom>
          <a:noFill/>
          <a:ln w="0">
            <a:noFill/>
          </a:ln>
        </p:spPr>
      </p:pic>
      <p:sp>
        <p:nvSpPr>
          <p:cNvPr id="280" name="PlaceHolder 2"/>
          <p:cNvSpPr>
            <a:spLocks noGrp="1"/>
          </p:cNvSpPr>
          <p:nvPr>
            <p:ph type="dt" idx="10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829D221-BD32-42E0-B0A8-CC78FE9F8503}"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81" name="PlaceHolder 3"/>
          <p:cNvSpPr>
            <a:spLocks noGrp="1"/>
          </p:cNvSpPr>
          <p:nvPr>
            <p:ph type="ftr" idx="11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2" name="PlaceHolder 4"/>
          <p:cNvSpPr>
            <a:spLocks noGrp="1"/>
          </p:cNvSpPr>
          <p:nvPr>
            <p:ph type="sldNum" idx="11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E2901EE-AFCA-40A6-973B-360F711C322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83" name=""/>
          <p:cNvPicPr/>
          <p:nvPr/>
        </p:nvPicPr>
        <p:blipFill>
          <a:blip r:embed="rId2"/>
          <a:stretch/>
        </p:blipFill>
        <p:spPr>
          <a:xfrm>
            <a:off x="3200400" y="829800"/>
            <a:ext cx="5486400" cy="2426040"/>
          </a:xfrm>
          <a:prstGeom prst="rect">
            <a:avLst/>
          </a:prstGeom>
          <a:noFill/>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191880" y="228600"/>
            <a:ext cx="9155880" cy="6858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br>
              <a:rPr sz="1800"/>
            </a:br>
            <a:r>
              <a:rPr lang="de-DE" sz="1800" b="1" u="none" strike="noStrike">
                <a:solidFill>
                  <a:srgbClr val="FF4000"/>
                </a:solidFill>
                <a:effectLst/>
                <a:uFillTx/>
                <a:latin typeface="SRH Headline"/>
                <a:ea typeface="SRH Headline"/>
              </a:rPr>
              <a:t>Machine Learning Model Development &amp; Cost-Sensitive Optimization</a:t>
            </a:r>
            <a:br>
              <a:rPr sz="1800"/>
            </a:br>
            <a:endParaRPr lang="de-DE" sz="1800" b="1" u="none" strike="noStrike">
              <a:solidFill>
                <a:schemeClr val="dk1"/>
              </a:solidFill>
              <a:effectLst/>
              <a:uFillTx/>
              <a:latin typeface="SRH Headline"/>
            </a:endParaRPr>
          </a:p>
        </p:txBody>
      </p:sp>
      <p:sp>
        <p:nvSpPr>
          <p:cNvPr id="285" name="PlaceHolder 2"/>
          <p:cNvSpPr>
            <a:spLocks noGrp="1"/>
          </p:cNvSpPr>
          <p:nvPr>
            <p:ph/>
          </p:nvPr>
        </p:nvSpPr>
        <p:spPr>
          <a:xfrm>
            <a:off x="228600" y="914400"/>
            <a:ext cx="11201040" cy="6857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Algorithm: XGBoost (Extreme Gradient Boosting)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Data Split: </a:t>
            </a:r>
            <a:r>
              <a:rPr lang="en-US" sz="1400" b="1" u="none" strike="noStrike">
                <a:solidFill>
                  <a:srgbClr val="1C1C1C"/>
                </a:solidFill>
                <a:effectLst/>
                <a:uFillTx/>
                <a:latin typeface="SRH Text"/>
                <a:ea typeface="SRH Text"/>
              </a:rPr>
              <a:t>80% Training | 10% Validation | 10% Test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Class Imbalance: Class weights applied during training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Hyperparameter Optimization: Grid Search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n_estimators: [200, 300, 400, 500,600,700]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learning_rate: [0.03, 0.05, 0.07, 0.1 ,0.2, 0.3]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max_depth: [3, 4, 5, 6,7,8]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min_child_weight: [1, 3, 5, 7, 9]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Total: 256 XGBoost configurations evaluated </a:t>
            </a:r>
            <a:endParaRPr lang="de-DE" sz="1400" b="0" u="none" strike="noStrike">
              <a:solidFill>
                <a:schemeClr val="dk1"/>
              </a:solidFill>
              <a:effectLst/>
              <a:uFillTx/>
              <a:latin typeface="SRH Text"/>
            </a:endParaRPr>
          </a:p>
        </p:txBody>
      </p:sp>
      <p:sp>
        <p:nvSpPr>
          <p:cNvPr id="286" name="PlaceHolder 3"/>
          <p:cNvSpPr>
            <a:spLocks noGrp="1"/>
          </p:cNvSpPr>
          <p:nvPr>
            <p:ph type="dt" idx="11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00B19F9-4A7C-4072-B754-82E899476211}"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87" name="PlaceHolder 4"/>
          <p:cNvSpPr>
            <a:spLocks noGrp="1"/>
          </p:cNvSpPr>
          <p:nvPr>
            <p:ph type="ftr" idx="11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8" name="PlaceHolder 5"/>
          <p:cNvSpPr>
            <a:spLocks noGrp="1"/>
          </p:cNvSpPr>
          <p:nvPr>
            <p:ph type="sldNum" idx="11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C518481-7C3E-4A1B-8725-0C4FDF39E56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title"/>
          </p:nvPr>
        </p:nvSpPr>
        <p:spPr>
          <a:xfrm>
            <a:off x="191880" y="228600"/>
            <a:ext cx="9155880" cy="6858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1800" b="1" u="none" strike="noStrike">
                <a:solidFill>
                  <a:srgbClr val="FF4000"/>
                </a:solidFill>
                <a:effectLst/>
                <a:uFillTx/>
                <a:latin typeface="SRH Headline"/>
                <a:ea typeface="SRH Headline"/>
              </a:rPr>
              <a:t>Cost-Sensitive Learning </a:t>
            </a:r>
            <a:br>
              <a:rPr sz="1800"/>
            </a:br>
            <a:endParaRPr lang="de-DE" sz="1800" b="1" u="none" strike="noStrike">
              <a:solidFill>
                <a:schemeClr val="dk1"/>
              </a:solidFill>
              <a:effectLst/>
              <a:uFillTx/>
              <a:latin typeface="SRH Headline"/>
            </a:endParaRPr>
          </a:p>
        </p:txBody>
      </p:sp>
      <p:sp>
        <p:nvSpPr>
          <p:cNvPr id="290" name="PlaceHolder 2"/>
          <p:cNvSpPr>
            <a:spLocks noGrp="1"/>
          </p:cNvSpPr>
          <p:nvPr>
            <p:ph/>
          </p:nvPr>
        </p:nvSpPr>
        <p:spPr>
          <a:xfrm>
            <a:off x="228600" y="914400"/>
            <a:ext cx="11201040" cy="59436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Rather than modifying the data, cost-sensitive methods embed penalty structures </a:t>
            </a:r>
            <a:r>
              <a:rPr lang="en-US" sz="1400" b="0" u="none" strike="noStrike">
                <a:solidFill>
                  <a:srgbClr val="1C1C1C"/>
                </a:solidFill>
                <a:effectLst/>
                <a:uFillTx/>
                <a:latin typeface="SRH Text"/>
                <a:ea typeface="SRH Text"/>
              </a:rPr>
              <a:t>directly into the learning process: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Misclassifying a minority class (e.g., wrongly denying a qualified applicant) </a:t>
            </a:r>
            <a:r>
              <a:rPr lang="en-US" sz="1400" b="0" u="none" strike="noStrike">
                <a:solidFill>
                  <a:srgbClr val="1C1C1C"/>
                </a:solidFill>
                <a:effectLst/>
                <a:uFillTx/>
                <a:latin typeface="SRH Text"/>
                <a:ea typeface="SRH Text"/>
              </a:rPr>
              <a:t>incurs a higher cost.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Class weights are adjusted inversely proportional to class frequency or based on </a:t>
            </a:r>
            <a:r>
              <a:rPr lang="en-US" sz="1400" b="0" u="none" strike="noStrike">
                <a:solidFill>
                  <a:srgbClr val="1C1C1C"/>
                </a:solidFill>
                <a:effectLst/>
                <a:uFillTx/>
                <a:latin typeface="SRH Text"/>
                <a:ea typeface="SRH Text"/>
              </a:rPr>
              <a:t>real-world cost estimations.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 Implemented through:</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class_weight parameter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Custom loss functions (e.g., weighted loss in XGBoost).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Cost-Effectiveness Analysis:</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To evaluate financial utility:</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False Positives (FP): Approving a loan to a high-risk borrower (costly default </a:t>
            </a:r>
            <a:r>
              <a:rPr lang="en-US" sz="1400" b="0" u="none" strike="noStrike">
                <a:solidFill>
                  <a:srgbClr val="1C1C1C"/>
                </a:solidFill>
                <a:effectLst/>
                <a:uFillTx/>
                <a:latin typeface="SRH Text"/>
                <a:ea typeface="SRH Text"/>
              </a:rPr>
              <a:t>risk).</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o False Negatives (FN): Denying a reliable borrower (opportunity loss, customer </a:t>
            </a:r>
            <a:r>
              <a:rPr lang="en-US" sz="1400" b="0" u="none" strike="noStrike">
                <a:solidFill>
                  <a:srgbClr val="1C1C1C"/>
                </a:solidFill>
                <a:effectLst/>
                <a:uFillTx/>
                <a:latin typeface="SRH Text"/>
                <a:ea typeface="SRH Text"/>
              </a:rPr>
              <a:t>attrition).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400" b="0" u="none" strike="noStrike">
              <a:solidFill>
                <a:schemeClr val="dk1"/>
              </a:solidFill>
              <a:effectLst/>
              <a:uFillTx/>
              <a:latin typeface="SRH Text"/>
            </a:endParaRPr>
          </a:p>
        </p:txBody>
      </p:sp>
      <p:sp>
        <p:nvSpPr>
          <p:cNvPr id="291" name="PlaceHolder 3"/>
          <p:cNvSpPr>
            <a:spLocks noGrp="1"/>
          </p:cNvSpPr>
          <p:nvPr>
            <p:ph type="dt" idx="11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85A80EF-341C-4EE2-8443-9EEEBF496863}"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92" name="PlaceHolder 4"/>
          <p:cNvSpPr>
            <a:spLocks noGrp="1"/>
          </p:cNvSpPr>
          <p:nvPr>
            <p:ph type="ftr" idx="11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3" name="PlaceHolder 5"/>
          <p:cNvSpPr>
            <a:spLocks noGrp="1"/>
          </p:cNvSpPr>
          <p:nvPr>
            <p:ph type="sldNum" idx="11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F75C3BF-49EC-4B4E-A880-F4690583676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191880" y="538560"/>
            <a:ext cx="9155880" cy="6044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br>
              <a:rPr sz="2600"/>
            </a:br>
            <a:r>
              <a:rPr lang="en-US" sz="2600" b="1" u="none" strike="noStrike">
                <a:solidFill>
                  <a:srgbClr val="FF4000"/>
                </a:solidFill>
                <a:effectLst/>
                <a:uFillTx/>
                <a:latin typeface="SRH Headline"/>
                <a:ea typeface="SRH Headline"/>
              </a:rPr>
              <a:t> </a:t>
            </a:r>
            <a:br>
              <a:rPr sz="2600"/>
            </a:br>
            <a:r>
              <a:rPr lang="en-US" sz="2600" b="1" u="none" strike="noStrike">
                <a:solidFill>
                  <a:srgbClr val="FF4000"/>
                </a:solidFill>
                <a:effectLst/>
                <a:uFillTx/>
                <a:latin typeface="SRH Headline"/>
                <a:ea typeface="SRH Headline"/>
              </a:rPr>
              <a:t>   Class Imbalance</a:t>
            </a:r>
            <a:endParaRPr lang="de-DE" sz="2600" b="1" u="none" strike="noStrike">
              <a:solidFill>
                <a:srgbClr val="FF4000"/>
              </a:solidFill>
              <a:effectLst/>
              <a:uFillTx/>
              <a:latin typeface="SRH Headline"/>
            </a:endParaRPr>
          </a:p>
        </p:txBody>
      </p:sp>
      <p:sp>
        <p:nvSpPr>
          <p:cNvPr id="295" name="PlaceHolder 2"/>
          <p:cNvSpPr>
            <a:spLocks noGrp="1"/>
          </p:cNvSpPr>
          <p:nvPr>
            <p:ph/>
          </p:nvPr>
        </p:nvSpPr>
        <p:spPr>
          <a:xfrm>
            <a:off x="228600" y="1333800"/>
            <a:ext cx="10803600" cy="5066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distribution of the target variable was examined to determine whether the dataset contains a significant class imbalance and whether imbalance-handling techniques are required.</a:t>
            </a:r>
            <a:endParaRPr lang="de-DE" sz="1300" b="0" u="none" strike="noStrike">
              <a:solidFill>
                <a:schemeClr val="dk1"/>
              </a:solidFill>
              <a:effectLst/>
              <a:uFillTx/>
              <a:latin typeface="SRH Text"/>
            </a:endParaRPr>
          </a:p>
        </p:txBody>
      </p:sp>
      <p:sp>
        <p:nvSpPr>
          <p:cNvPr id="296" name="PlaceHolder 3"/>
          <p:cNvSpPr>
            <a:spLocks noGrp="1"/>
          </p:cNvSpPr>
          <p:nvPr>
            <p:ph type="dt" idx="11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D111D98-D629-4CB6-B93B-D2AB93FF97DE}"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297" name="PlaceHolder 4"/>
          <p:cNvSpPr>
            <a:spLocks noGrp="1"/>
          </p:cNvSpPr>
          <p:nvPr>
            <p:ph type="ftr" idx="11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8" name="PlaceHolder 5"/>
          <p:cNvSpPr>
            <a:spLocks noGrp="1"/>
          </p:cNvSpPr>
          <p:nvPr>
            <p:ph type="sldNum" idx="12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D85122E-91ED-4AA7-9B16-67629269116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99" name=""/>
          <p:cNvPicPr/>
          <p:nvPr/>
        </p:nvPicPr>
        <p:blipFill>
          <a:blip r:embed="rId1"/>
          <a:stretch/>
        </p:blipFill>
        <p:spPr>
          <a:xfrm>
            <a:off x="8229600" y="1371600"/>
            <a:ext cx="2971800" cy="4572000"/>
          </a:xfrm>
          <a:prstGeom prst="rect">
            <a:avLst/>
          </a:prstGeom>
          <a:noFill/>
          <a:ln w="0">
            <a:noFill/>
          </a:ln>
        </p:spPr>
      </p:pic>
      <p:pic>
        <p:nvPicPr>
          <p:cNvPr id="300" name=""/>
          <p:cNvPicPr/>
          <p:nvPr/>
        </p:nvPicPr>
        <p:blipFill>
          <a:blip r:embed="rId2"/>
          <a:stretch/>
        </p:blipFill>
        <p:spPr>
          <a:xfrm>
            <a:off x="84600" y="1333800"/>
            <a:ext cx="6758640" cy="2323440"/>
          </a:xfrm>
          <a:prstGeom prst="rect">
            <a:avLst/>
          </a:prstGeom>
          <a:noFill/>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302" name="PlaceHolder 2"/>
          <p:cNvSpPr>
            <a:spLocks noGrp="1"/>
          </p:cNvSpPr>
          <p:nvPr>
            <p:ph/>
          </p:nvPr>
        </p:nvSpPr>
        <p:spPr>
          <a:xfrm>
            <a:off x="228600" y="696600"/>
            <a:ext cx="4571640" cy="54756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500" b="0" u="none" strike="noStrike">
                <a:solidFill>
                  <a:srgbClr val="FF4000"/>
                </a:solidFill>
                <a:effectLst/>
                <a:uFillTx/>
                <a:latin typeface="SRH Text"/>
                <a:ea typeface="SRH Text"/>
              </a:rPr>
              <a:t>Find optimal threshold:</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Standard approach → Fixed threshold = 0.50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Proposed approach → Optimize the decision threshold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Tested thresholds: (0.15, 0.6, 0.01)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Business cost function: prioritize low FN, penalize FP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Cost = 2.5 × FN + FP</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p(default)&lt; 0.50-→ Approved</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p(default)&gt; 0.50-→ Rejected</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303" name="PlaceHolder 3"/>
          <p:cNvSpPr>
            <a:spLocks noGrp="1"/>
          </p:cNvSpPr>
          <p:nvPr>
            <p:ph type="dt" idx="12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C9A9446-940B-44AF-A7CB-F5C24F34FF39}"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04" name="PlaceHolder 4"/>
          <p:cNvSpPr>
            <a:spLocks noGrp="1"/>
          </p:cNvSpPr>
          <p:nvPr>
            <p:ph type="ftr" idx="12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5" name="PlaceHolder 5"/>
          <p:cNvSpPr>
            <a:spLocks noGrp="1"/>
          </p:cNvSpPr>
          <p:nvPr>
            <p:ph type="sldNum" idx="12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E9AF780-73A6-45E5-A32B-1421B713398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06" name=""/>
          <p:cNvPicPr/>
          <p:nvPr/>
        </p:nvPicPr>
        <p:blipFill>
          <a:blip r:embed="rId1"/>
          <a:stretch/>
        </p:blipFill>
        <p:spPr>
          <a:xfrm>
            <a:off x="8458200" y="1334160"/>
            <a:ext cx="3016800" cy="3466440"/>
          </a:xfrm>
          <a:prstGeom prst="rect">
            <a:avLst/>
          </a:prstGeom>
          <a:noFill/>
          <a:ln w="0">
            <a:noFill/>
          </a:ln>
        </p:spPr>
      </p:pic>
      <p:sp>
        <p:nvSpPr>
          <p:cNvPr id="307" name="PlaceHolder 6"/>
          <p:cNvSpPr txBox="1"/>
          <p:nvPr/>
        </p:nvSpPr>
        <p:spPr>
          <a:xfrm>
            <a:off x="4764960" y="624960"/>
            <a:ext cx="3464640" cy="4861440"/>
          </a:xfrm>
          <a:prstGeom prst="rect">
            <a:avLst/>
          </a:prstGeom>
          <a:noFill/>
          <a:ln w="0">
            <a:noFill/>
          </a:ln>
        </p:spPr>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Each model was evaluated using: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 (FN)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 (FP)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Error balance:FP/FN Ratio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Business Cost</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pic>
        <p:nvPicPr>
          <p:cNvPr id="309" name=""/>
          <p:cNvPicPr/>
          <p:nvPr/>
        </p:nvPicPr>
        <p:blipFill>
          <a:blip r:embed="rId1"/>
          <a:stretch/>
        </p:blipFill>
        <p:spPr>
          <a:xfrm>
            <a:off x="1618200" y="696240"/>
            <a:ext cx="7525440" cy="5505480"/>
          </a:xfrm>
          <a:prstGeom prst="rect">
            <a:avLst/>
          </a:prstGeom>
          <a:noFill/>
          <a:ln w="0">
            <a:noFill/>
          </a:ln>
        </p:spPr>
      </p:pic>
      <p:sp>
        <p:nvSpPr>
          <p:cNvPr id="310" name="PlaceHolder 2"/>
          <p:cNvSpPr>
            <a:spLocks noGrp="1"/>
          </p:cNvSpPr>
          <p:nvPr>
            <p:ph type="dt" idx="12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F5FDCE2-903D-4E3F-8B87-656B394DD5AD}"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11" name="PlaceHolder 3"/>
          <p:cNvSpPr>
            <a:spLocks noGrp="1"/>
          </p:cNvSpPr>
          <p:nvPr>
            <p:ph type="ftr" idx="12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2" name="PlaceHolder 4"/>
          <p:cNvSpPr>
            <a:spLocks noGrp="1"/>
          </p:cNvSpPr>
          <p:nvPr>
            <p:ph type="sldNum" idx="12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9974562-DDFB-402C-BE0A-416F0A22920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000" b="1" u="none" strike="noStrike">
                <a:solidFill>
                  <a:srgbClr val="FF4000"/>
                </a:solidFill>
                <a:effectLst/>
                <a:uFillTx/>
                <a:latin typeface="SRH Headline"/>
                <a:ea typeface="SRH Headline"/>
              </a:rPr>
              <a:t>Explainable AI: SHAP-Based Model Interpretation</a:t>
            </a:r>
            <a:endParaRPr lang="de-DE" sz="2000" b="1" u="none" strike="noStrike">
              <a:solidFill>
                <a:schemeClr val="dk1"/>
              </a:solidFill>
              <a:effectLst/>
              <a:uFillTx/>
              <a:latin typeface="SRH Headline"/>
            </a:endParaRPr>
          </a:p>
        </p:txBody>
      </p:sp>
      <p:sp>
        <p:nvSpPr>
          <p:cNvPr id="314" name="PlaceHolder 2"/>
          <p:cNvSpPr>
            <a:spLocks noGrp="1"/>
          </p:cNvSpPr>
          <p:nvPr>
            <p:ph/>
          </p:nvPr>
        </p:nvSpPr>
        <p:spPr>
          <a:xfrm>
            <a:off x="228600" y="912600"/>
            <a:ext cx="5715000" cy="518760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Objective: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Interpret how the XGBoost model makes credit-risk predictions and identify the features that drive its decisions.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SHAP Framework</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TreeExplainer applied to the final XGBoost model</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2,000 test observations analyzed</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Global feature importance based on mean |SHAP value|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SHAP dependence plots used to examine feature effects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15" name="PlaceHolder 3"/>
          <p:cNvSpPr>
            <a:spLocks noGrp="1"/>
          </p:cNvSpPr>
          <p:nvPr>
            <p:ph type="dt" idx="12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24F2BA0-B4BB-4A2E-8482-2FE20BCC4873}"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16" name="PlaceHolder 4"/>
          <p:cNvSpPr>
            <a:spLocks noGrp="1"/>
          </p:cNvSpPr>
          <p:nvPr>
            <p:ph type="ftr" idx="12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7" name="PlaceHolder 5"/>
          <p:cNvSpPr>
            <a:spLocks noGrp="1"/>
          </p:cNvSpPr>
          <p:nvPr>
            <p:ph type="sldNum" idx="12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E204C8D-ADFA-4FDD-9856-CE360C19B6C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18" name="PlaceHolder 7"/>
          <p:cNvSpPr txBox="1"/>
          <p:nvPr/>
        </p:nvSpPr>
        <p:spPr>
          <a:xfrm>
            <a:off x="5988960" y="912600"/>
            <a:ext cx="4983840" cy="5488200"/>
          </a:xfrm>
          <a:prstGeom prst="rect">
            <a:avLst/>
          </a:prstGeom>
          <a:noFill/>
          <a:ln w="0">
            <a:noFill/>
          </a:ln>
        </p:spPr>
        <p:txBody>
          <a:bodyPr numCol="1" spcCol="216000" lIns="0" tIns="0" rIns="0" bIns="0" anchor="t">
            <a:noAutofit/>
          </a:bodyPr>
          <a:p>
            <a:pPr defTabSz="914400">
              <a:lnSpc>
                <a:spcPct val="110000"/>
              </a:lnSpc>
              <a:spcBef>
                <a:spcPts val="1191"/>
              </a:spcBef>
              <a:spcAft>
                <a:spcPts val="992"/>
              </a:spcAft>
              <a:tabLst>
                <a:tab pos="0" algn="l"/>
              </a:tabLst>
            </a:pPr>
            <a:r>
              <a:rPr lang="de-DE" sz="1300" b="1" u="none" strike="noStrike">
                <a:solidFill>
                  <a:schemeClr val="dk1"/>
                </a:solidFill>
                <a:effectLst/>
                <a:uFillTx/>
                <a:latin typeface="SRH Text"/>
                <a:ea typeface="SRH Text"/>
              </a:rPr>
              <a:t>Key Findings:</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Score: 19.42% of total SHAP importance</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Debt-to-Income Ratio: 15.95%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History: 9.65%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Loan-to-Income Ratio: 8.42%</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Education Loan Intent: 8.15%</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Explainable AI: SHAP-Based Model Interpretation</a:t>
            </a:r>
            <a:endParaRPr lang="de-DE" sz="2600" b="1" u="none" strike="noStrike">
              <a:solidFill>
                <a:schemeClr val="dk1"/>
              </a:solidFill>
              <a:effectLst/>
              <a:uFillTx/>
              <a:latin typeface="SRH Headline"/>
            </a:endParaRPr>
          </a:p>
        </p:txBody>
      </p:sp>
      <p:sp>
        <p:nvSpPr>
          <p:cNvPr id="320" name="PlaceHolder 2"/>
          <p:cNvSpPr>
            <a:spLocks noGrp="1"/>
          </p:cNvSpPr>
          <p:nvPr>
            <p:ph/>
          </p:nvPr>
        </p:nvSpPr>
        <p:spPr>
          <a:xfrm>
            <a:off x="228600" y="1371600"/>
            <a:ext cx="4800600" cy="480060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10 features: 84.39% </a:t>
            </a:r>
            <a:endParaRPr lang="de-DE" sz="14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20 features: 98.83% </a:t>
            </a:r>
            <a:endParaRPr lang="de-DE" sz="1400" b="0" u="none" strike="noStrike">
              <a:solidFill>
                <a:schemeClr val="dk1"/>
              </a:solidFill>
              <a:effectLst/>
              <a:uFillTx/>
              <a:latin typeface="SRH Text"/>
            </a:endParaRPr>
          </a:p>
        </p:txBody>
      </p:sp>
      <p:sp>
        <p:nvSpPr>
          <p:cNvPr id="321" name="PlaceHolder 3"/>
          <p:cNvSpPr>
            <a:spLocks noGrp="1"/>
          </p:cNvSpPr>
          <p:nvPr>
            <p:ph type="dt" idx="13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767F30C-23B6-4F25-ACB8-C1106FBA7867}"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22" name="PlaceHolder 4"/>
          <p:cNvSpPr>
            <a:spLocks noGrp="1"/>
          </p:cNvSpPr>
          <p:nvPr>
            <p:ph type="ftr" idx="13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3" name="PlaceHolder 5"/>
          <p:cNvSpPr>
            <a:spLocks noGrp="1"/>
          </p:cNvSpPr>
          <p:nvPr>
            <p:ph type="sldNum" idx="13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C09B8EB-FC08-49AE-A194-00A545D7BB35}"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24" name=""/>
          <p:cNvPicPr/>
          <p:nvPr/>
        </p:nvPicPr>
        <p:blipFill>
          <a:blip r:embed="rId1"/>
          <a:stretch/>
        </p:blipFill>
        <p:spPr>
          <a:xfrm>
            <a:off x="5729400" y="1009800"/>
            <a:ext cx="4942440" cy="571464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Selective Prediction Framework</a:t>
            </a:r>
            <a:endParaRPr lang="de-DE" sz="2600" b="1" u="none" strike="noStrike">
              <a:solidFill>
                <a:schemeClr val="dk1"/>
              </a:solidFill>
              <a:effectLst/>
              <a:uFillTx/>
              <a:latin typeface="SRH Headline"/>
            </a:endParaRPr>
          </a:p>
        </p:txBody>
      </p:sp>
      <p:sp>
        <p:nvSpPr>
          <p:cNvPr id="326" name="PlaceHolder 2"/>
          <p:cNvSpPr>
            <a:spLocks noGrp="1"/>
          </p:cNvSpPr>
          <p:nvPr>
            <p:ph/>
          </p:nvPr>
        </p:nvSpPr>
        <p:spPr>
          <a:xfrm>
            <a:off x="228600" y="914400"/>
            <a:ext cx="11201040" cy="58150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Traditional classification forces an automatic decision for every applicant.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My approach: allow the model to abstain from uncertain cases and refer them to human loan officers.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Probability of Default &lt; thresholds </a:t>
            </a:r>
            <a:r>
              <a:rPr lang="en-US" sz="1300" b="1" u="none" strike="noStrike">
                <a:solidFill>
                  <a:srgbClr val="1C1C1C"/>
                </a:solidFill>
                <a:effectLst/>
                <a:uFillTx/>
                <a:latin typeface="SRH Text"/>
                <a:ea typeface="SRH Text"/>
              </a:rPr>
              <a:t>t₁ </a:t>
            </a:r>
            <a:r>
              <a:rPr lang="en-US" sz="1300" b="1" u="none" strike="noStrike">
                <a:solidFill>
                  <a:srgbClr val="1C1C1C"/>
                </a:solidFill>
                <a:effectLst/>
                <a:uFillTx/>
                <a:latin typeface="SRH Text"/>
                <a:ea typeface="SRH Text"/>
              </a:rPr>
              <a:t>                                                      </a:t>
            </a:r>
            <a:r>
              <a:rPr lang="en-US" sz="1300" b="1" u="none" strike="noStrike">
                <a:solidFill>
                  <a:srgbClr val="FF4000"/>
                </a:solidFill>
                <a:effectLst/>
                <a:uFillTx/>
                <a:latin typeface="SRH Text"/>
                <a:ea typeface="SRH Text"/>
              </a:rPr>
              <a:t>t₁ — Automatic Approval</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thresholds </a:t>
            </a:r>
            <a:r>
              <a:rPr lang="en-US" sz="1300" b="1" u="none" strike="noStrike">
                <a:solidFill>
                  <a:srgbClr val="1C1C1C"/>
                </a:solidFill>
                <a:effectLst/>
                <a:uFillTx/>
                <a:latin typeface="SRH Text"/>
                <a:ea typeface="SRH Text"/>
              </a:rPr>
              <a:t>t₁ </a:t>
            </a:r>
            <a:r>
              <a:rPr lang="en-US" sz="1300" b="0" u="none" strike="noStrike">
                <a:solidFill>
                  <a:srgbClr val="1C1C1C"/>
                </a:solidFill>
                <a:effectLst/>
                <a:uFillTx/>
                <a:latin typeface="SRH Text"/>
                <a:ea typeface="SRH Text"/>
              </a:rPr>
              <a:t>≤ Probability of Default ≤ thresholds </a:t>
            </a:r>
            <a:r>
              <a:rPr lang="en-US" sz="1300" b="1" u="none" strike="noStrike">
                <a:solidFill>
                  <a:srgbClr val="1C1C1C"/>
                </a:solidFill>
                <a:effectLst/>
                <a:uFillTx/>
                <a:latin typeface="SRH Text"/>
                <a:ea typeface="SRH Text"/>
              </a:rPr>
              <a:t>t₂</a:t>
            </a:r>
            <a:r>
              <a:rPr lang="en-US" sz="1300" b="1" u="none" strike="noStrike">
                <a:solidFill>
                  <a:srgbClr val="FF4000"/>
                </a:solidFill>
                <a:effectLst/>
                <a:uFillTx/>
                <a:latin typeface="SRH Text"/>
                <a:ea typeface="SRH Text"/>
              </a:rPr>
              <a:t>                                    t₁ ≤ p </a:t>
            </a:r>
            <a:r>
              <a:rPr lang="en-US" sz="1300" b="1" u="none" strike="noStrike">
                <a:solidFill>
                  <a:srgbClr val="FF4000"/>
                </a:solidFill>
                <a:effectLst/>
                <a:uFillTx/>
                <a:latin typeface="SRH Text"/>
                <a:ea typeface="SRH Text"/>
              </a:rPr>
              <a:t>≤ t₂ — Manual Review</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Probability of Default &gt; thresholds </a:t>
            </a:r>
            <a:r>
              <a:rPr lang="en-US" sz="1300" b="1" u="none" strike="noStrike">
                <a:solidFill>
                  <a:srgbClr val="1C1C1C"/>
                </a:solidFill>
                <a:effectLst/>
                <a:uFillTx/>
                <a:latin typeface="SRH Text"/>
                <a:ea typeface="SRH Text"/>
              </a:rPr>
              <a:t>t₂                                                        </a:t>
            </a:r>
            <a:r>
              <a:rPr lang="en-US" sz="1300" b="1" u="none" strike="noStrike">
                <a:solidFill>
                  <a:srgbClr val="FF4000"/>
                </a:solidFill>
                <a:effectLst/>
                <a:uFillTx/>
                <a:latin typeface="SRH Text"/>
                <a:ea typeface="SRH Text"/>
              </a:rPr>
              <a:t>t₂ — Automatic Rejection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thresholds t₁ and t₂ were jointly optimized with the XGBoost hyperparameters using grid search and a business-cost function.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27" name="PlaceHolder 3"/>
          <p:cNvSpPr>
            <a:spLocks noGrp="1"/>
          </p:cNvSpPr>
          <p:nvPr>
            <p:ph type="dt" idx="13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07B842F-13D7-472C-8877-4FA75A42C660}"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28" name="PlaceHolder 4"/>
          <p:cNvSpPr>
            <a:spLocks noGrp="1"/>
          </p:cNvSpPr>
          <p:nvPr>
            <p:ph type="ftr" idx="13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9" name="PlaceHolder 5"/>
          <p:cNvSpPr>
            <a:spLocks noGrp="1"/>
          </p:cNvSpPr>
          <p:nvPr>
            <p:ph type="sldNum" idx="13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80B60EF-1278-45F5-9B72-2EAC4574961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Framework</a:t>
            </a:r>
            <a:endParaRPr lang="de-DE" sz="2600" b="1" u="none" strike="noStrike">
              <a:solidFill>
                <a:schemeClr val="dk1"/>
              </a:solidFill>
              <a:effectLst/>
              <a:uFillTx/>
              <a:latin typeface="SRH Headline"/>
            </a:endParaRPr>
          </a:p>
        </p:txBody>
      </p:sp>
      <p:sp>
        <p:nvSpPr>
          <p:cNvPr id="331" name="PlaceHolder 2"/>
          <p:cNvSpPr>
            <a:spLocks noGrp="1"/>
          </p:cNvSpPr>
          <p:nvPr>
            <p:ph/>
          </p:nvPr>
        </p:nvSpPr>
        <p:spPr>
          <a:xfrm>
            <a:off x="228600" y="914400"/>
            <a:ext cx="5486040" cy="54518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Selective prediction allows the model to abstain from uncertain cases and refer them to human loan officers.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Probability of Default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 ─────── 0.20 ───────────── 0.60 ─────── 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APPROVE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&lt; 0.20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MANUAL REVIEW</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0.20 ≤ p(default) ≤ 0.60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REJECT</a:t>
            </a:r>
            <a:endParaRPr lang="de-DE" sz="1300" b="0" u="none" strike="noStrike">
              <a:solidFill>
                <a:schemeClr val="dk1"/>
              </a:solidFill>
              <a:effectLst/>
              <a:uFillTx/>
              <a:latin typeface="SRH Text"/>
            </a:endParaRPr>
          </a:p>
        </p:txBody>
      </p:sp>
      <p:sp>
        <p:nvSpPr>
          <p:cNvPr id="332" name="PlaceHolder 3"/>
          <p:cNvSpPr>
            <a:spLocks noGrp="1"/>
          </p:cNvSpPr>
          <p:nvPr>
            <p:ph type="dt" idx="13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44FD13A-D868-4165-9926-ECEF2A3AF7E1}"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33" name="PlaceHolder 4"/>
          <p:cNvSpPr>
            <a:spLocks noGrp="1"/>
          </p:cNvSpPr>
          <p:nvPr>
            <p:ph type="ftr" idx="13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34" name="PlaceHolder 5"/>
          <p:cNvSpPr>
            <a:spLocks noGrp="1"/>
          </p:cNvSpPr>
          <p:nvPr>
            <p:ph type="sldNum" idx="13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A1D1396-4620-4D04-9A9E-E2240E5D294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35" name="PlaceHolder 130"/>
          <p:cNvSpPr/>
          <p:nvPr/>
        </p:nvSpPr>
        <p:spPr>
          <a:xfrm>
            <a:off x="5952600" y="914400"/>
            <a:ext cx="548604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&gt; 0.60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thresholds </a:t>
            </a:r>
            <a:r>
              <a:rPr lang="en-US" sz="1300" b="1" u="none" strike="noStrike">
                <a:solidFill>
                  <a:srgbClr val="1C1C1C"/>
                </a:solidFill>
                <a:effectLst/>
                <a:uFillTx/>
                <a:latin typeface="SRH Text"/>
                <a:ea typeface="SRH Text"/>
              </a:rPr>
              <a:t>t₁ = 0.20</a:t>
            </a:r>
            <a:r>
              <a:rPr lang="en-US" sz="1300" b="0" u="none" strike="noStrike">
                <a:solidFill>
                  <a:srgbClr val="1C1C1C"/>
                </a:solidFill>
                <a:effectLst/>
                <a:uFillTx/>
                <a:latin typeface="SRH Text"/>
                <a:ea typeface="SRH Text"/>
              </a:rPr>
              <a:t> and </a:t>
            </a:r>
            <a:r>
              <a:rPr lang="en-US" sz="1300" b="1" u="none" strike="noStrike">
                <a:solidFill>
                  <a:srgbClr val="1C1C1C"/>
                </a:solidFill>
                <a:effectLst/>
                <a:uFillTx/>
                <a:latin typeface="SRH Text"/>
                <a:ea typeface="SRH Text"/>
              </a:rPr>
              <a:t>t₂ = 0.60</a:t>
            </a:r>
            <a:r>
              <a:rPr lang="en-US" sz="1300" b="0" u="none" strike="noStrike">
                <a:solidFill>
                  <a:srgbClr val="1C1C1C"/>
                </a:solidFill>
                <a:effectLst/>
                <a:uFillTx/>
                <a:latin typeface="SRH Text"/>
                <a:ea typeface="SRH Text"/>
              </a:rPr>
              <a:t> were optimized using grid search with a cost-sensitive objective and a maximum manual-review rate of 20%.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Core Idea</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High confidence → Automation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Low confidence → Human expertise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This creates a decision system that explicitly manages prediction uncertainty.</a:t>
            </a:r>
            <a:endParaRPr lang="en-US" sz="1300" b="0" u="none" strike="noStrike">
              <a:solidFill>
                <a:srgbClr val="000000"/>
              </a:solidFill>
              <a:effectLst/>
              <a:uFillTx/>
              <a:latin typeface="Arial"/>
            </a:endParaRPr>
          </a:p>
          <a:p>
            <a:pPr defTabSz="914400">
              <a:lnSpc>
                <a:spcPct val="150000"/>
              </a:lnSpc>
              <a:spcBef>
                <a:spcPts val="1191"/>
              </a:spcBef>
              <a:spcAft>
                <a:spcPts val="992"/>
              </a:spcAft>
              <a:tabLst>
                <a:tab pos="0" algn="l"/>
              </a:tabLst>
            </a:pP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37" name="PlaceHolder 2"/>
          <p:cNvSpPr>
            <a:spLocks noGrp="1"/>
          </p:cNvSpPr>
          <p:nvPr>
            <p:ph/>
          </p:nvPr>
        </p:nvSpPr>
        <p:spPr>
          <a:xfrm>
            <a:off x="228600" y="696600"/>
            <a:ext cx="3657240" cy="524664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Test-Set Decision Distribution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Accept: 1,780 (35.60%)</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Reject: 2,604 (52.08%)</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Manual Review: 616 (12.32%)</a:t>
            </a: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38" name="PlaceHolder 3"/>
          <p:cNvSpPr>
            <a:spLocks noGrp="1"/>
          </p:cNvSpPr>
          <p:nvPr>
            <p:ph type="dt" idx="13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771D3EB-EDD9-435C-9F71-55DF1EC2DCE9}"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39" name="PlaceHolder 4"/>
          <p:cNvSpPr>
            <a:spLocks noGrp="1"/>
          </p:cNvSpPr>
          <p:nvPr>
            <p:ph type="ftr" idx="14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0" name="PlaceHolder 5"/>
          <p:cNvSpPr>
            <a:spLocks noGrp="1"/>
          </p:cNvSpPr>
          <p:nvPr>
            <p:ph type="sldNum" idx="14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19AC313-CFA8-4743-B3C1-A86F41D1562D}"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41" name=""/>
          <p:cNvPicPr/>
          <p:nvPr/>
        </p:nvPicPr>
        <p:blipFill>
          <a:blip r:embed="rId1"/>
          <a:stretch/>
        </p:blipFill>
        <p:spPr>
          <a:xfrm>
            <a:off x="4212000" y="1143000"/>
            <a:ext cx="6989040" cy="5257440"/>
          </a:xfrm>
          <a:prstGeom prst="rect">
            <a:avLst/>
          </a:prstGeom>
          <a:noFill/>
          <a:ln w="0">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43" name="PlaceHolder 2"/>
          <p:cNvSpPr>
            <a:spLocks noGrp="1"/>
          </p:cNvSpPr>
          <p:nvPr>
            <p:ph type="dt" idx="14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19FBA77-14EC-4981-8AB0-5D9A58932C4C}"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44" name="PlaceHolder 3"/>
          <p:cNvSpPr>
            <a:spLocks noGrp="1"/>
          </p:cNvSpPr>
          <p:nvPr>
            <p:ph type="ftr" idx="14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5" name="PlaceHolder 4"/>
          <p:cNvSpPr>
            <a:spLocks noGrp="1"/>
          </p:cNvSpPr>
          <p:nvPr>
            <p:ph type="sldNum" idx="14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AB4349F-212C-48CF-921F-AC3610F8B8B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46" name=""/>
          <p:cNvPicPr/>
          <p:nvPr/>
        </p:nvPicPr>
        <p:blipFill>
          <a:blip r:embed="rId1"/>
          <a:stretch/>
        </p:blipFill>
        <p:spPr>
          <a:xfrm>
            <a:off x="479520" y="1242360"/>
            <a:ext cx="10721520" cy="4472280"/>
          </a:xfrm>
          <a:prstGeom prst="rect">
            <a:avLst/>
          </a:prstGeom>
          <a:noFill/>
          <a:ln w="0">
            <a:noFill/>
          </a:ln>
        </p:spPr>
      </p:pic>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48" name="PlaceHolder 2"/>
          <p:cNvSpPr>
            <a:spLocks noGrp="1"/>
          </p:cNvSpPr>
          <p:nvPr>
            <p:ph/>
          </p:nvPr>
        </p:nvSpPr>
        <p:spPr>
          <a:xfrm>
            <a:off x="228600" y="696600"/>
            <a:ext cx="5257440" cy="60328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Ensure that the credit-risk model remains reliable after deployment when customer populations and data distributions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Automated Monitoring Pipeline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1. DATA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Monitor changes in customer characteristics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measures changes in feature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Interpretation: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PSI &lt; 0.1 : No significant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0.1 ≤ PSI &lt; 0.2 : Moderate change (monitor)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0.2 : Significant change (investigate/retrain)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0.3 : Severe drift (immediate action required)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49" name="PlaceHolder 3"/>
          <p:cNvSpPr>
            <a:spLocks noGrp="1"/>
          </p:cNvSpPr>
          <p:nvPr>
            <p:ph type="dt" idx="14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3C16CAF-18AF-4894-869D-41D599F6B0E7}"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50" name="PlaceHolder 4"/>
          <p:cNvSpPr>
            <a:spLocks noGrp="1"/>
          </p:cNvSpPr>
          <p:nvPr>
            <p:ph type="ftr" idx="14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1" name="PlaceHolder 5"/>
          <p:cNvSpPr>
            <a:spLocks noGrp="1"/>
          </p:cNvSpPr>
          <p:nvPr>
            <p:ph type="sldNum" idx="14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A833655-49E4-49EA-90A6-686C2D51DAD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2" name="PlaceHolder 114"/>
          <p:cNvSpPr/>
          <p:nvPr/>
        </p:nvSpPr>
        <p:spPr>
          <a:xfrm>
            <a:off x="6172200" y="685800"/>
            <a:ext cx="5257440" cy="60328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Test → compares reference and new distributions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Interpretation: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&lt; 0.05 : No significant difference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0.05 ≤ KS &lt; 0.1 : Moderate difference (monitor)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 0.1 : Significant difference (investigate) </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2. PREDICTION / MODEL MONITORING</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Monitor changes in model behavior and performance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Accuracy</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54" name="PlaceHolder 2"/>
          <p:cNvSpPr>
            <a:spLocks noGrp="1"/>
          </p:cNvSpPr>
          <p:nvPr>
            <p:ph/>
          </p:nvPr>
        </p:nvSpPr>
        <p:spPr>
          <a:xfrm>
            <a:off x="228600" y="914400"/>
            <a:ext cx="5715000" cy="5451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3. RELIABILITY ACTION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Detect degradation → Generate alert → Investigate / Retrain</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Drift Classification</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Stable</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Moderate Drift</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 Significant Drift</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55" name="PlaceHolder 3"/>
          <p:cNvSpPr>
            <a:spLocks noGrp="1"/>
          </p:cNvSpPr>
          <p:nvPr>
            <p:ph type="dt" idx="14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AF11467-EF18-4C60-A951-EEF638A445F2}"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56" name="PlaceHolder 4"/>
          <p:cNvSpPr>
            <a:spLocks noGrp="1"/>
          </p:cNvSpPr>
          <p:nvPr>
            <p:ph type="ftr" idx="14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7" name="PlaceHolder 5"/>
          <p:cNvSpPr>
            <a:spLocks noGrp="1"/>
          </p:cNvSpPr>
          <p:nvPr>
            <p:ph type="sldNum" idx="15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08F66D9-B44E-4788-ADC3-9388CB35D6F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8" name="PlaceHolder 152"/>
          <p:cNvSpPr/>
          <p:nvPr/>
        </p:nvSpPr>
        <p:spPr>
          <a:xfrm>
            <a:off x="6168960" y="914400"/>
            <a:ext cx="594648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Reference Population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The validation dataset was used as the baseline because it represents unseen customers.</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Key Contribution</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The model is not treated as a static predictor.</a:t>
            </a:r>
            <a:endParaRPr lang="en-US" sz="14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Reliability is continuously monitored under distribution shift.</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Nightly Automated Model Monitoring</a:t>
            </a:r>
            <a:endParaRPr lang="de-DE" sz="2600" b="1" u="none" strike="noStrike">
              <a:solidFill>
                <a:schemeClr val="dk1"/>
              </a:solidFill>
              <a:effectLst/>
              <a:uFillTx/>
              <a:latin typeface="SRH Headline"/>
            </a:endParaRPr>
          </a:p>
        </p:txBody>
      </p:sp>
      <p:sp>
        <p:nvSpPr>
          <p:cNvPr id="360" name="PlaceHolder 2"/>
          <p:cNvSpPr>
            <a:spLocks noGrp="1"/>
          </p:cNvSpPr>
          <p:nvPr>
            <p:ph/>
          </p:nvPr>
        </p:nvSpPr>
        <p:spPr>
          <a:xfrm>
            <a:off x="228600" y="914400"/>
            <a:ext cx="5943240" cy="545184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Purpose: Continuously monitor the deployed credit-risk model for data and prediction changes.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Monitoring Pipeline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Collect new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Latest scored loan applications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Data Drift Detection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Compare current features with reference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Identify MODERATE / SEVERE drift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Prediction Drift</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Monitor predicted probabilities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Calculate Population Stability Index (PSI)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61" name="PlaceHolder 3"/>
          <p:cNvSpPr>
            <a:spLocks noGrp="1"/>
          </p:cNvSpPr>
          <p:nvPr>
            <p:ph type="dt" idx="1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D227F29-6D4A-44E5-8D9F-FEB6F9121126}"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62" name="PlaceHolder 4"/>
          <p:cNvSpPr>
            <a:spLocks noGrp="1"/>
          </p:cNvSpPr>
          <p:nvPr>
            <p:ph type="ftr" idx="15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3" name="PlaceHolder 5"/>
          <p:cNvSpPr>
            <a:spLocks noGrp="1"/>
          </p:cNvSpPr>
          <p:nvPr>
            <p:ph type="sldNum" idx="15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8C36679-4649-4B5E-8F77-AF1FD73D4AB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64" name="PlaceHolder 150"/>
          <p:cNvSpPr/>
          <p:nvPr/>
        </p:nvSpPr>
        <p:spPr>
          <a:xfrm>
            <a:off x="6172200" y="914400"/>
            <a:ext cx="5615640" cy="5257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Performance Monitoring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AUC, False Negatives (FN), False Positives (FP)</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Cost-sensitive performance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Automated Alerting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Trigger alert when severe drift, prediction drift, or performance degradation is detected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Schedule: Daily at 02:00 AM</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2600" b="1" u="none" strike="noStrike">
                <a:solidFill>
                  <a:srgbClr val="FF4000"/>
                </a:solidFill>
                <a:effectLst/>
                <a:uFillTx/>
                <a:latin typeface="SRH Headline"/>
                <a:ea typeface="SRH Headline"/>
              </a:rPr>
              <a:t>Further Improvements</a:t>
            </a:r>
            <a:endParaRPr lang="de-DE" sz="2600" b="1" u="none" strike="noStrike">
              <a:solidFill>
                <a:srgbClr val="FF4000"/>
              </a:solidFill>
              <a:effectLst/>
              <a:uFillTx/>
              <a:latin typeface="SRH Headline"/>
            </a:endParaRPr>
          </a:p>
        </p:txBody>
      </p:sp>
      <p:sp>
        <p:nvSpPr>
          <p:cNvPr id="366"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Model Accuracy</a:t>
            </a:r>
            <a:r>
              <a:rPr lang="en-US" sz="1800" b="0" u="none" strike="noStrike">
                <a:solidFill>
                  <a:schemeClr val="dk1"/>
                </a:solidFill>
                <a:effectLst/>
                <a:uFillTx/>
                <a:latin typeface="SRH Text"/>
                <a:ea typeface="SRH Text"/>
              </a:rPr>
              <a:t>: Enhance the predictive model's accuracy by incorporating </a:t>
            </a:r>
            <a:r>
              <a:rPr lang="en-US" sz="1800" b="1" u="none" strike="noStrike">
                <a:solidFill>
                  <a:schemeClr val="dk1"/>
                </a:solidFill>
                <a:effectLst/>
                <a:uFillTx/>
                <a:latin typeface="SRH Text"/>
                <a:ea typeface="SRH Text"/>
              </a:rPr>
              <a:t>more features </a:t>
            </a:r>
            <a:r>
              <a:rPr lang="en-US" sz="1800" b="0" u="none" strike="noStrike">
                <a:solidFill>
                  <a:schemeClr val="dk1"/>
                </a:solidFill>
                <a:effectLst/>
                <a:uFillTx/>
                <a:latin typeface="SRH Text"/>
                <a:ea typeface="SRH Text"/>
              </a:rPr>
              <a:t>and experimenting with advanced ML algorithms.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Real-Time Alerts</a:t>
            </a:r>
            <a:r>
              <a:rPr lang="en-US" sz="1800" b="0" u="none" strike="noStrike">
                <a:solidFill>
                  <a:schemeClr val="dk1"/>
                </a:solidFill>
                <a:effectLst/>
                <a:uFillTx/>
                <a:latin typeface="SRH Text"/>
                <a:ea typeface="SRH Text"/>
              </a:rPr>
              <a:t>: Add </a:t>
            </a:r>
            <a:r>
              <a:rPr lang="en-US" sz="1800" b="1" u="none" strike="noStrike">
                <a:solidFill>
                  <a:schemeClr val="dk1"/>
                </a:solidFill>
                <a:effectLst/>
                <a:uFillTx/>
                <a:latin typeface="SRH Text"/>
                <a:ea typeface="SRH Text"/>
              </a:rPr>
              <a:t>real-time alerting mechanisms </a:t>
            </a:r>
            <a:r>
              <a:rPr lang="en-US" sz="1800" b="0" u="none" strike="noStrike">
                <a:solidFill>
                  <a:schemeClr val="dk1"/>
                </a:solidFill>
                <a:effectLst/>
                <a:uFillTx/>
                <a:latin typeface="SRH Text"/>
                <a:ea typeface="SRH Text"/>
              </a:rPr>
              <a:t>for critical weather conditions.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User Experience</a:t>
            </a:r>
            <a:r>
              <a:rPr lang="en-US" sz="1800" b="0" u="none" strike="noStrike">
                <a:solidFill>
                  <a:schemeClr val="dk1"/>
                </a:solidFill>
                <a:effectLst/>
                <a:uFillTx/>
                <a:latin typeface="SRH Text"/>
                <a:ea typeface="SRH Text"/>
              </a:rPr>
              <a:t>: Improve the design and interactivity of </a:t>
            </a:r>
            <a:r>
              <a:rPr lang="en-US" sz="1800" b="1" u="none" strike="noStrike">
                <a:solidFill>
                  <a:schemeClr val="dk1"/>
                </a:solidFill>
                <a:effectLst/>
                <a:uFillTx/>
                <a:latin typeface="SRH Text"/>
                <a:ea typeface="SRH Text"/>
              </a:rPr>
              <a:t>Tableau dashboards </a:t>
            </a:r>
            <a:r>
              <a:rPr lang="en-US" sz="1800" b="0" u="none" strike="noStrike">
                <a:solidFill>
                  <a:schemeClr val="dk1"/>
                </a:solidFill>
                <a:effectLst/>
                <a:uFillTx/>
                <a:latin typeface="SRH Text"/>
                <a:ea typeface="SRH Text"/>
              </a:rPr>
              <a:t>to better cater to end-user needs.</a:t>
            </a:r>
            <a:endParaRPr lang="de-DE" sz="1800" b="0" u="none" strike="noStrike">
              <a:solidFill>
                <a:schemeClr val="dk1"/>
              </a:solidFill>
              <a:effectLst/>
              <a:uFillTx/>
              <a:latin typeface="SRH Text"/>
            </a:endParaRPr>
          </a:p>
        </p:txBody>
      </p:sp>
      <p:sp>
        <p:nvSpPr>
          <p:cNvPr id="367" name="PlaceHolder 3"/>
          <p:cNvSpPr>
            <a:spLocks noGrp="1"/>
          </p:cNvSpPr>
          <p:nvPr>
            <p:ph type="dt" idx="15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1454AEA-558A-443E-8F05-0708B834218C}" type="datetime1">
              <a:rPr lang="en-CA" sz="900" b="1" u="none" strike="noStrike">
                <a:solidFill>
                  <a:srgbClr val="6D7373"/>
                </a:solidFill>
                <a:effectLst/>
                <a:uFillTx/>
                <a:latin typeface="SRH Text"/>
                <a:ea typeface="SRH"/>
              </a:rPr>
              <a:t>2026-08-17</a:t>
            </a:fld>
            <a:endParaRPr lang="en-US" sz="900" b="0" u="none" strike="noStrike">
              <a:solidFill>
                <a:srgbClr val="000000"/>
              </a:solidFill>
              <a:effectLst/>
              <a:uFillTx/>
              <a:latin typeface="Times New Roman"/>
            </a:endParaRPr>
          </a:p>
        </p:txBody>
      </p:sp>
      <p:sp>
        <p:nvSpPr>
          <p:cNvPr id="368" name="PlaceHolder 4"/>
          <p:cNvSpPr>
            <a:spLocks noGrp="1"/>
          </p:cNvSpPr>
          <p:nvPr>
            <p:ph type="ftr" idx="15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9" name="PlaceHolder 5"/>
          <p:cNvSpPr>
            <a:spLocks noGrp="1"/>
          </p:cNvSpPr>
          <p:nvPr>
            <p:ph type="sldNum" idx="15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5C523CE-7110-4E25-B5C2-FC1AAFBE956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0" name="Picture 10"/>
          <p:cNvPicPr/>
          <p:nvPr/>
        </p:nvPicPr>
        <p:blipFill>
          <a:blip r:embed="rId1"/>
          <a:stretch/>
        </p:blipFill>
        <p:spPr>
          <a:xfrm>
            <a:off x="101520" y="1472400"/>
            <a:ext cx="9449280" cy="1730880"/>
          </a:xfrm>
          <a:prstGeom prst="rect">
            <a:avLst/>
          </a:prstGeom>
          <a:noFill/>
          <a:ln w="0">
            <a:noFill/>
          </a:ln>
        </p:spPr>
      </p:pic>
      <p:pic>
        <p:nvPicPr>
          <p:cNvPr id="371" name="Picture 11"/>
          <p:cNvPicPr/>
          <p:nvPr/>
        </p:nvPicPr>
        <p:blipFill>
          <a:blip r:embed="rId2"/>
          <a:stretch/>
        </p:blipFill>
        <p:spPr>
          <a:xfrm>
            <a:off x="1456200" y="2779920"/>
            <a:ext cx="7668720" cy="8488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4457</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2026-08-17T18:13:21Z</dcterms:modified>
  <cp:revision>102</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