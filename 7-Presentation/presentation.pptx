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media/image2.svg" ContentType="image/svg"/>
  <Override PartName="/ppt/media/image4.svg" ContentType="image/svg"/>
  <Override PartName="/ppt/media/image26.emf" ContentType="image/x-emf"/>
  <Override PartName="/ppt/media/image27.emf" ContentType="image/x-em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7772400" cy="10058400"/>
  <p:embeddedFontLst>
    <p:embeddedFont>
      <p:font typeface="SRH Headline"/>
    </p:embeddedFont>
    <p:embeddedFont>
      <p:font typeface="SRH Text"/>
    </p:embeddedFont>
    <p:embeddedFont>
      <p:font typeface="Arial MT"/>
    </p:embeddedFont>
    <p:embeddedFont>
      <p:font typeface="SRH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und Text auf weis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752580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F0EEB5-A09A-4029-9CB9-2D2630CB58E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752580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7525800" cy="490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8248680" y="1728000"/>
            <a:ext cx="358164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Gliederung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" name="Logo-Fragment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sldNum" idx="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6C36A7-EAAB-4F84-81B3-6E123B8CDAA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ftr" idx="5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773400" y="4853880"/>
            <a:ext cx="50504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75880" y="4853880"/>
            <a:ext cx="4233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body"/>
          </p:nvPr>
        </p:nvSpPr>
        <p:spPr>
          <a:xfrm>
            <a:off x="6773400" y="4073040"/>
            <a:ext cx="50504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body"/>
          </p:nvPr>
        </p:nvSpPr>
        <p:spPr>
          <a:xfrm>
            <a:off x="6275880" y="4073040"/>
            <a:ext cx="4233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body"/>
          </p:nvPr>
        </p:nvSpPr>
        <p:spPr>
          <a:xfrm>
            <a:off x="6773400" y="3291120"/>
            <a:ext cx="50504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1" name="PlaceHolder 9"/>
          <p:cNvSpPr>
            <a:spLocks noGrp="1"/>
          </p:cNvSpPr>
          <p:nvPr>
            <p:ph type="body"/>
          </p:nvPr>
        </p:nvSpPr>
        <p:spPr>
          <a:xfrm>
            <a:off x="6275880" y="3291120"/>
            <a:ext cx="4233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2" name="PlaceHolder 10"/>
          <p:cNvSpPr>
            <a:spLocks noGrp="1"/>
          </p:cNvSpPr>
          <p:nvPr>
            <p:ph type="body"/>
          </p:nvPr>
        </p:nvSpPr>
        <p:spPr>
          <a:xfrm>
            <a:off x="6773400" y="2509560"/>
            <a:ext cx="50504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3" name="PlaceHolder 11"/>
          <p:cNvSpPr>
            <a:spLocks noGrp="1"/>
          </p:cNvSpPr>
          <p:nvPr>
            <p:ph type="body"/>
          </p:nvPr>
        </p:nvSpPr>
        <p:spPr>
          <a:xfrm>
            <a:off x="6275880" y="2509560"/>
            <a:ext cx="4233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4" name="PlaceHolder 12"/>
          <p:cNvSpPr>
            <a:spLocks noGrp="1"/>
          </p:cNvSpPr>
          <p:nvPr>
            <p:ph type="body"/>
          </p:nvPr>
        </p:nvSpPr>
        <p:spPr>
          <a:xfrm>
            <a:off x="6773400" y="1728000"/>
            <a:ext cx="50504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5" name="PlaceHolder 13"/>
          <p:cNvSpPr>
            <a:spLocks noGrp="1"/>
          </p:cNvSpPr>
          <p:nvPr>
            <p:ph type="body"/>
          </p:nvPr>
        </p:nvSpPr>
        <p:spPr>
          <a:xfrm>
            <a:off x="6275880" y="1728000"/>
            <a:ext cx="4233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6" name="PlaceHolder 14"/>
          <p:cNvSpPr>
            <a:spLocks noGrp="1"/>
          </p:cNvSpPr>
          <p:nvPr>
            <p:ph type="body"/>
          </p:nvPr>
        </p:nvSpPr>
        <p:spPr>
          <a:xfrm>
            <a:off x="862200" y="4853880"/>
            <a:ext cx="50511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7" name="PlaceHolder 15"/>
          <p:cNvSpPr>
            <a:spLocks noGrp="1"/>
          </p:cNvSpPr>
          <p:nvPr>
            <p:ph type="body"/>
          </p:nvPr>
        </p:nvSpPr>
        <p:spPr>
          <a:xfrm>
            <a:off x="359280" y="4853880"/>
            <a:ext cx="4226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8" name="PlaceHolder 16"/>
          <p:cNvSpPr>
            <a:spLocks noGrp="1"/>
          </p:cNvSpPr>
          <p:nvPr>
            <p:ph type="body"/>
          </p:nvPr>
        </p:nvSpPr>
        <p:spPr>
          <a:xfrm>
            <a:off x="862200" y="4073040"/>
            <a:ext cx="50511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29" name="PlaceHolder 17"/>
          <p:cNvSpPr>
            <a:spLocks noGrp="1"/>
          </p:cNvSpPr>
          <p:nvPr>
            <p:ph type="body"/>
          </p:nvPr>
        </p:nvSpPr>
        <p:spPr>
          <a:xfrm>
            <a:off x="359280" y="4073040"/>
            <a:ext cx="4226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00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0" name="PlaceHolder 18"/>
          <p:cNvSpPr>
            <a:spLocks noGrp="1"/>
          </p:cNvSpPr>
          <p:nvPr>
            <p:ph type="body"/>
          </p:nvPr>
        </p:nvSpPr>
        <p:spPr>
          <a:xfrm>
            <a:off x="862200" y="3291120"/>
            <a:ext cx="50511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1" name="PlaceHolder 19"/>
          <p:cNvSpPr>
            <a:spLocks noGrp="1"/>
          </p:cNvSpPr>
          <p:nvPr>
            <p:ph type="body"/>
          </p:nvPr>
        </p:nvSpPr>
        <p:spPr>
          <a:xfrm>
            <a:off x="359280" y="3291120"/>
            <a:ext cx="4226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03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2" name="PlaceHolder 20"/>
          <p:cNvSpPr>
            <a:spLocks noGrp="1"/>
          </p:cNvSpPr>
          <p:nvPr>
            <p:ph type="body"/>
          </p:nvPr>
        </p:nvSpPr>
        <p:spPr>
          <a:xfrm>
            <a:off x="862200" y="2509560"/>
            <a:ext cx="505116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3" name="PlaceHolder 21"/>
          <p:cNvSpPr>
            <a:spLocks noGrp="1"/>
          </p:cNvSpPr>
          <p:nvPr>
            <p:ph type="body"/>
          </p:nvPr>
        </p:nvSpPr>
        <p:spPr>
          <a:xfrm>
            <a:off x="359280" y="2509560"/>
            <a:ext cx="422640" cy="697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02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4" name="PlaceHolder 22"/>
          <p:cNvSpPr>
            <a:spLocks noGrp="1"/>
          </p:cNvSpPr>
          <p:nvPr>
            <p:ph type="body"/>
          </p:nvPr>
        </p:nvSpPr>
        <p:spPr>
          <a:xfrm>
            <a:off x="862200" y="1728000"/>
            <a:ext cx="505116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  <a:lvl2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Thema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Beschreibung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5" name="PlaceHolder 23"/>
          <p:cNvSpPr>
            <a:spLocks noGrp="1"/>
          </p:cNvSpPr>
          <p:nvPr>
            <p:ph type="body"/>
          </p:nvPr>
        </p:nvSpPr>
        <p:spPr>
          <a:xfrm>
            <a:off x="359280" y="1728000"/>
            <a:ext cx="422640" cy="6980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01</a:t>
            </a:r>
            <a:endParaRPr lang="de-DE" sz="20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</p:txBody>
      </p:sp>
      <p:sp>
        <p:nvSpPr>
          <p:cNvPr id="36" name="PlaceHolder 24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Gliederung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8" name="Logo-Fragment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359280" y="1728000"/>
            <a:ext cx="915588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8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D9C406-A4CD-4D38-A907-B0A7FEB1720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Logo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24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title"/>
          </p:nvPr>
        </p:nvSpPr>
        <p:spPr>
          <a:xfrm>
            <a:off x="630000" y="1079640"/>
            <a:ext cx="7398720" cy="3015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9652680" y="622440"/>
            <a:ext cx="1983240" cy="55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55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630000" y="457920"/>
            <a:ext cx="945720" cy="73116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1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11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1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9B27CB-95B1-4BF0-88A2-E2B7323CB2D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dt" idx="1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ftr" idx="14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1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AD9031-BC72-4DDF-BE1A-19C1DB40AF2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ontakt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59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0" name="Textfeld 11"/>
          <p:cNvSpPr/>
          <p:nvPr/>
        </p:nvSpPr>
        <p:spPr>
          <a:xfrm>
            <a:off x="360000" y="1891800"/>
            <a:ext cx="7452720" cy="20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Vielen Dank für Ihre </a:t>
            </a:r>
            <a:br>
              <a:rPr sz="1800"/>
            </a:b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Aufmerksamkeit!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body"/>
          </p:nvPr>
        </p:nvSpPr>
        <p:spPr>
          <a:xfrm>
            <a:off x="360000" y="4881240"/>
            <a:ext cx="4628160" cy="1269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1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ontakt Farb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3" name="Textfeld 11"/>
          <p:cNvSpPr/>
          <p:nvPr/>
        </p:nvSpPr>
        <p:spPr>
          <a:xfrm>
            <a:off x="360000" y="1891800"/>
            <a:ext cx="7452720" cy="20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Vielen Dank für deine</a:t>
            </a:r>
            <a:br>
              <a:rPr sz="1800"/>
            </a:b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Aufmerksamkeit!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body"/>
          </p:nvPr>
        </p:nvSpPr>
        <p:spPr>
          <a:xfrm>
            <a:off x="360000" y="4881240"/>
            <a:ext cx="4628160" cy="12682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  <p:sp>
        <p:nvSpPr>
          <p:cNvPr id="65" name="Freihandform: Form 5"/>
          <p:cNvSpPr/>
          <p:nvPr/>
        </p:nvSpPr>
        <p:spPr>
          <a:xfrm>
            <a:off x="8211960" y="2802240"/>
            <a:ext cx="3987000" cy="4052880"/>
          </a:xfrm>
          <a:custGeom>
            <a:avLst/>
            <a:gdLst>
              <a:gd name="textAreaLeft" fmla="*/ 0 w 3987000"/>
              <a:gd name="textAreaRight" fmla="*/ 1436293800 w 398700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36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pic>
        <p:nvPicPr>
          <p:cNvPr id="66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7880" cy="734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Logo Farb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24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title"/>
          </p:nvPr>
        </p:nvSpPr>
        <p:spPr>
          <a:xfrm>
            <a:off x="630000" y="1079640"/>
            <a:ext cx="7398720" cy="3015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9652680" y="622440"/>
            <a:ext cx="1983240" cy="550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4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94000"/>
              </a:lnSpc>
              <a:buNone/>
              <a:tabLst>
                <a:tab pos="0" algn="l"/>
              </a:tabLst>
            </a:pPr>
            <a:r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550" b="1" u="none" strike="noStrike">
              <a:solidFill>
                <a:schemeClr val="lt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Statements, Farb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2" name="Freihandform: Form 10"/>
          <p:cNvSpPr/>
          <p:nvPr/>
        </p:nvSpPr>
        <p:spPr>
          <a:xfrm>
            <a:off x="8211960" y="2802240"/>
            <a:ext cx="3987000" cy="4052880"/>
          </a:xfrm>
          <a:custGeom>
            <a:avLst/>
            <a:gdLst>
              <a:gd name="textAreaLeft" fmla="*/ 0 w 3987000"/>
              <a:gd name="textAreaRight" fmla="*/ 1436293800 w 398700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36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2329200"/>
            <a:ext cx="11470320" cy="3978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dt" idx="1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ftr" idx="17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sldNum" idx="1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1BDFBF-8D2A-4333-B5ED-9D0376904200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77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7880" cy="734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/2 Text, 1/2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body"/>
          </p:nvPr>
        </p:nvSpPr>
        <p:spPr>
          <a:xfrm>
            <a:off x="6095880" y="0"/>
            <a:ext cx="609300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80" name="Zeichen" hidden="1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title"/>
          </p:nvPr>
        </p:nvSpPr>
        <p:spPr>
          <a:xfrm>
            <a:off x="360000" y="358920"/>
            <a:ext cx="536472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367560" y="1728000"/>
            <a:ext cx="536472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dt" idx="1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ftr" idx="20"/>
          </p:nvPr>
        </p:nvSpPr>
        <p:spPr>
          <a:xfrm>
            <a:off x="1319400" y="6356520"/>
            <a:ext cx="44128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 type="sldNum" idx="2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D071BD-D8A3-47AB-BB0E-59D3275FBB9C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 type="body"/>
          </p:nvPr>
        </p:nvSpPr>
        <p:spPr>
          <a:xfrm>
            <a:off x="10877400" y="358920"/>
            <a:ext cx="947880" cy="73440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mit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89240" cy="685512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1800" b="1" u="none" strike="noStrike">
                <a:solidFill>
                  <a:schemeClr val="lt1"/>
                </a:solidFill>
                <a:effectLst/>
                <a:uFillTx/>
                <a:latin typeface="SRH Headline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1800" b="1" u="none" strike="noStrike">
                <a:solidFill>
                  <a:schemeClr val="lt1"/>
                </a:solidFill>
                <a:effectLst/>
                <a:uFillTx/>
                <a:latin typeface="SRH Headline"/>
              </a:rPr>
              <a:t>Click to edit the outline text format</a:t>
            </a:r>
            <a:endParaRPr lang="de-DE" sz="1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360000" y="616680"/>
            <a:ext cx="7639920" cy="2514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60000" y="3124800"/>
            <a:ext cx="7639920" cy="25142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rPr>
              <a:t>Mastertextformat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ftr" idx="23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sldNum" idx="2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8E2CEA-1C8A-49CC-864D-AB719E569EBD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10877400" y="358920"/>
            <a:ext cx="947880" cy="734400"/>
          </a:xfrm>
          <a:prstGeom prst="rect">
            <a:avLst/>
          </a:pr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a:blipFill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100" b="1" u="none" strike="noStrike">
                <a:solidFill>
                  <a:schemeClr val="lt1"/>
                </a:solidFill>
                <a:effectLst/>
                <a:uFillTx/>
                <a:latin typeface="SRH Headline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100" b="1" u="none" strike="noStrike">
                <a:solidFill>
                  <a:schemeClr val="lt1"/>
                </a:solidFill>
                <a:effectLst/>
                <a:uFillTx/>
                <a:latin typeface="SRH Headline"/>
              </a:rPr>
              <a:t>Click to edit the outline text format</a:t>
            </a:r>
            <a:endParaRPr lang="de-DE" sz="1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warm grey">
    <p:bg>
      <p:bgPr>
        <a:solidFill>
          <a:srgbClr val="DDDB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96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chemeClr val="lt1">
              <a:alpha val="2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520" cy="1402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x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320" cy="2619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dt" idx="2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ftr" idx="26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5"/>
          <p:cNvSpPr>
            <a:spLocks noGrp="1"/>
          </p:cNvSpPr>
          <p:nvPr>
            <p:ph type="sldNum" idx="2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11D116-51B3-4ED8-A657-CE38342A618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farbi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ihandform: Form 11" hidden="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520" cy="1402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320" cy="2619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dt" idx="2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ftr" idx="29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sldNum" idx="3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DBB692-FADA-43C7-968F-4CAE884FD0BD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08" name="Grafik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77400" y="358920"/>
            <a:ext cx="947880" cy="73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Freihandform: Form 8"/>
          <p:cNvSpPr/>
          <p:nvPr/>
        </p:nvSpPr>
        <p:spPr>
          <a:xfrm>
            <a:off x="8211960" y="2802240"/>
            <a:ext cx="3987000" cy="4052880"/>
          </a:xfrm>
          <a:custGeom>
            <a:avLst/>
            <a:gdLst>
              <a:gd name="textAreaLeft" fmla="*/ 0 w 3987000"/>
              <a:gd name="textAreaRight" fmla="*/ 1436293800 w 398700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705" h="4055745">
                <a:moveTo>
                  <a:pt x="3989705" y="0"/>
                </a:moveTo>
                <a:lnTo>
                  <a:pt x="3989705" y="2389210"/>
                </a:lnTo>
                <a:lnTo>
                  <a:pt x="3859000" y="2411148"/>
                </a:lnTo>
                <a:cubicBezTo>
                  <a:pt x="2993767" y="2575305"/>
                  <a:pt x="2648265" y="3036008"/>
                  <a:pt x="2529591" y="3871779"/>
                </a:cubicBezTo>
                <a:lnTo>
                  <a:pt x="2508283" y="4055745"/>
                </a:lnTo>
                <a:lnTo>
                  <a:pt x="0" y="4055745"/>
                </a:lnTo>
                <a:lnTo>
                  <a:pt x="22944" y="3788838"/>
                </a:lnTo>
                <a:cubicBezTo>
                  <a:pt x="290771" y="1521853"/>
                  <a:pt x="1510519" y="126892"/>
                  <a:pt x="3885553" y="4661"/>
                </a:cubicBezTo>
                <a:cubicBezTo>
                  <a:pt x="3907463" y="3232"/>
                  <a:pt x="3931933" y="1982"/>
                  <a:pt x="3958371" y="932"/>
                </a:cubicBezTo>
                <a:close/>
              </a:path>
            </a:pathLst>
          </a:custGeom>
          <a:solidFill>
            <a:srgbClr val="EEEDEC">
              <a:alpha val="1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736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folie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1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60000" y="2191320"/>
            <a:ext cx="9893520" cy="1402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360000" y="3597120"/>
            <a:ext cx="4252320" cy="2619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20000" b="1" u="none" strike="noStrike">
                <a:solidFill>
                  <a:schemeClr val="accent1"/>
                </a:solidFill>
                <a:effectLst/>
                <a:uFillTx/>
                <a:latin typeface="SRH Headline"/>
                <a:ea typeface="SRH Text"/>
              </a:rPr>
              <a:t>01</a:t>
            </a:r>
            <a:endParaRPr lang="de-DE" sz="200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dt" idx="3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ftr" idx="32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sldNum" idx="3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BB04CF-2A86-4AB0-9138-D120699C059C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ischenfolie Statements, weiß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8" name="Freihandform: Form 10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360000" y="2329200"/>
            <a:ext cx="11470320" cy="3978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98000"/>
              </a:lnSpc>
              <a:buNone/>
              <a:tabLst>
                <a:tab pos="0" algn="l"/>
              </a:tabLst>
              <a:def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98000"/>
              </a:lnSpc>
              <a:buNone/>
              <a:tabLst>
                <a:tab pos="0" algn="l"/>
              </a:tabLst>
            </a:pPr>
            <a:r>
              <a:rPr lang="de-DE" sz="48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4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dt" idx="3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ftr" idx="35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 type="sldNum" idx="3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92C38E-C3C5-4C4E-A28F-7EA0897AE7B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auf weis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915588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dt" idx="3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ftr" idx="38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sldNum" idx="3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FFF422-3F6F-48FF-AFBA-826F02F8F17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915588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0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9155880" cy="4917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und Text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32" name="Rechteck 13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752580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dt" idx="4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ftr" idx="41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5"/>
          <p:cNvSpPr>
            <a:spLocks noGrp="1"/>
          </p:cNvSpPr>
          <p:nvPr>
            <p:ph type="sldNum" idx="4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9607B9-670E-4772-80D8-9FC2ABC09DB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752580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39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7525800" cy="4906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40" name="PlaceHolder 8"/>
          <p:cNvSpPr>
            <a:spLocks noGrp="1"/>
          </p:cNvSpPr>
          <p:nvPr>
            <p:ph type="body"/>
          </p:nvPr>
        </p:nvSpPr>
        <p:spPr>
          <a:xfrm>
            <a:off x="8248680" y="1728000"/>
            <a:ext cx="358164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/3 Text, 1/3 Bild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2" name="Zeichen" hidden="1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6272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367560" y="1728000"/>
            <a:ext cx="751752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dt" idx="4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ftr" idx="44"/>
          </p:nvPr>
        </p:nvSpPr>
        <p:spPr>
          <a:xfrm>
            <a:off x="1319400" y="6356520"/>
            <a:ext cx="44128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sldNum" idx="4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166CE2-273C-4617-B362-01B8EFB3FD3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6"/>
          <p:cNvSpPr>
            <a:spLocks noGrp="1"/>
          </p:cNvSpPr>
          <p:nvPr>
            <p:ph type="body"/>
          </p:nvPr>
        </p:nvSpPr>
        <p:spPr>
          <a:xfrm>
            <a:off x="8247960" y="1728000"/>
            <a:ext cx="3581640" cy="4227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2/3 Text, 1/3 Bild im Anschnit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0" name="Zeichen" hidden="1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6272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367560" y="1728000"/>
            <a:ext cx="751752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dt" idx="4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ftr" idx="47"/>
          </p:nvPr>
        </p:nvSpPr>
        <p:spPr>
          <a:xfrm>
            <a:off x="1319400" y="6356520"/>
            <a:ext cx="44128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 type="sldNum" idx="4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D3743D-AB47-43CB-B45F-B17356F3D69D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6"/>
          <p:cNvSpPr>
            <a:spLocks noGrp="1"/>
          </p:cNvSpPr>
          <p:nvPr>
            <p:ph type="body"/>
          </p:nvPr>
        </p:nvSpPr>
        <p:spPr>
          <a:xfrm>
            <a:off x="8247960" y="1728000"/>
            <a:ext cx="3941280" cy="4227480"/>
          </a:xfrm>
          <a:prstGeom prst="rect">
            <a:avLst/>
          </a:prstGeom>
          <a:solidFill>
            <a:srgbClr val="FED9C9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/1 Inhalt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58" name="Rechteck 9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59" name="Freihandform: Form 28"/>
          <p:cNvSpPr/>
          <p:nvPr/>
        </p:nvSpPr>
        <p:spPr>
          <a:xfrm>
            <a:off x="8202960" y="2802240"/>
            <a:ext cx="3986280" cy="4052880"/>
          </a:xfrm>
          <a:custGeom>
            <a:avLst/>
            <a:gdLst>
              <a:gd name="textAreaLeft" fmla="*/ 0 w 3986280"/>
              <a:gd name="textAreaRight" fmla="*/ 1436065200 w 3986280"/>
              <a:gd name="textAreaTop" fmla="*/ 0 h 4052880"/>
              <a:gd name="textAreaBottom" fmla="*/ 1460068200 h 4052880"/>
            </a:gdLst>
            <a:ahLst/>
            <a:cxnLst/>
            <a:rect l="textAreaLeft" t="textAreaTop" r="textAreaRight" b="textAreaBottom"/>
            <a:pathLst>
              <a:path w="3989070" h="4055745">
                <a:moveTo>
                  <a:pt x="3989070" y="0"/>
                </a:moveTo>
                <a:lnTo>
                  <a:pt x="3989070" y="2389210"/>
                </a:lnTo>
                <a:lnTo>
                  <a:pt x="3858387" y="2411148"/>
                </a:lnTo>
                <a:cubicBezTo>
                  <a:pt x="2993291" y="2575305"/>
                  <a:pt x="2647844" y="3036008"/>
                  <a:pt x="2529189" y="3871779"/>
                </a:cubicBezTo>
                <a:lnTo>
                  <a:pt x="2507884" y="4055745"/>
                </a:lnTo>
                <a:lnTo>
                  <a:pt x="0" y="4055745"/>
                </a:lnTo>
                <a:lnTo>
                  <a:pt x="22941" y="3788838"/>
                </a:lnTo>
                <a:cubicBezTo>
                  <a:pt x="290726" y="1521853"/>
                  <a:pt x="1510279" y="126892"/>
                  <a:pt x="3884935" y="4661"/>
                </a:cubicBezTo>
                <a:cubicBezTo>
                  <a:pt x="3906842" y="3232"/>
                  <a:pt x="3931308" y="1982"/>
                  <a:pt x="3957741" y="932"/>
                </a:cubicBezTo>
                <a:close/>
              </a:path>
            </a:pathLst>
          </a:custGeom>
          <a:solidFill>
            <a:srgbClr val="E6E3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2802240" rIns="3986640" bIns="685800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588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359280" y="1728000"/>
            <a:ext cx="9155880" cy="4227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2pPr>
            <a:lvl3pPr lvl="2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3pPr>
            <a:lvl4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defRPr>
            </a:lvl4pPr>
            <a:lvl5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  <a:def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5pPr>
          </a:lstStyle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Zweite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720000" lvl="2" indent="-360000" algn="l" defTabSz="914400">
              <a:lnSpc>
                <a:spcPct val="110000"/>
              </a:lnSpc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Dritte Ebene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2401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accent1"/>
                </a:solidFill>
                <a:effectLst/>
                <a:uFillTx/>
                <a:latin typeface="SRH Text"/>
                <a:ea typeface="SRH Text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dt" idx="4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 type="ftr" idx="50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sldNum" idx="5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945CA-64E5-4331-97B4-019B0E59482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me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66" name="Rechteck 13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2048040" y="1943640"/>
            <a:ext cx="3865680" cy="3201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dt" idx="5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ftr" idx="53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5"/>
          <p:cNvSpPr>
            <a:spLocks noGrp="1"/>
          </p:cNvSpPr>
          <p:nvPr>
            <p:ph type="sldNum" idx="5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6F593A-148F-4D0A-B0A5-9F50F45628A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PlaceHolder 6"/>
          <p:cNvSpPr>
            <a:spLocks noGrp="1"/>
          </p:cNvSpPr>
          <p:nvPr>
            <p:ph type="body"/>
          </p:nvPr>
        </p:nvSpPr>
        <p:spPr>
          <a:xfrm>
            <a:off x="2048040" y="5212800"/>
            <a:ext cx="3865680" cy="7362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ctr" defTabSz="914400">
              <a:lnSpc>
                <a:spcPct val="11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ct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73" name="PlaceHolder 7"/>
          <p:cNvSpPr>
            <a:spLocks noGrp="1"/>
          </p:cNvSpPr>
          <p:nvPr>
            <p:ph type="body"/>
          </p:nvPr>
        </p:nvSpPr>
        <p:spPr>
          <a:xfrm>
            <a:off x="6275880" y="5212800"/>
            <a:ext cx="3865680" cy="7362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lstStyle>
            <a:lvl1pPr indent="0" algn="ctr" defTabSz="914400">
              <a:lnSpc>
                <a:spcPct val="11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ct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74" name="PlaceHolder 8"/>
          <p:cNvSpPr>
            <a:spLocks noGrp="1"/>
          </p:cNvSpPr>
          <p:nvPr>
            <p:ph type="body"/>
          </p:nvPr>
        </p:nvSpPr>
        <p:spPr>
          <a:xfrm>
            <a:off x="6275880" y="1943640"/>
            <a:ext cx="3865680" cy="32014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 auf warm gre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Freihandform: Form 11"/>
          <p:cNvSpPr/>
          <p:nvPr/>
        </p:nvSpPr>
        <p:spPr>
          <a:xfrm>
            <a:off x="10878840" y="361440"/>
            <a:ext cx="945000" cy="730440"/>
          </a:xfrm>
          <a:custGeom>
            <a:avLst/>
            <a:gdLst>
              <a:gd name="textAreaLeft" fmla="*/ 0 w 945000"/>
              <a:gd name="textAreaRight" fmla="*/ 341299800 w 945000"/>
              <a:gd name="textAreaTop" fmla="*/ 0 h 730440"/>
              <a:gd name="textAreaBottom" fmla="*/ 264033000 h 730440"/>
            </a:gdLst>
            <a:ahLst/>
            <a:cxnLst/>
            <a:rect l="textAreaLeft" t="textAreaTop" r="textAreaRight" b="textAreaBottom"/>
            <a:pathLst>
              <a:path w="948055" h="733425">
                <a:moveTo>
                  <a:pt x="619721" y="598726"/>
                </a:moveTo>
                <a:lnTo>
                  <a:pt x="708150" y="598726"/>
                </a:lnTo>
                <a:lnTo>
                  <a:pt x="708150" y="174"/>
                </a:lnTo>
                <a:lnTo>
                  <a:pt x="619721" y="174"/>
                </a:lnTo>
                <a:lnTo>
                  <a:pt x="619721" y="598726"/>
                </a:lnTo>
                <a:close/>
                <a:moveTo>
                  <a:pt x="811583" y="196858"/>
                </a:moveTo>
                <a:cubicBezTo>
                  <a:pt x="794961" y="196049"/>
                  <a:pt x="774271" y="196858"/>
                  <a:pt x="753582" y="199293"/>
                </a:cubicBezTo>
                <a:lnTo>
                  <a:pt x="753582" y="281173"/>
                </a:lnTo>
                <a:cubicBezTo>
                  <a:pt x="831456" y="281173"/>
                  <a:pt x="859851" y="292576"/>
                  <a:pt x="859851" y="364713"/>
                </a:cubicBezTo>
                <a:lnTo>
                  <a:pt x="859851" y="598726"/>
                </a:lnTo>
                <a:lnTo>
                  <a:pt x="948279" y="598726"/>
                </a:lnTo>
                <a:lnTo>
                  <a:pt x="948279" y="353792"/>
                </a:lnTo>
                <a:cubicBezTo>
                  <a:pt x="948279" y="263364"/>
                  <a:pt x="896768" y="200102"/>
                  <a:pt x="811583" y="196858"/>
                </a:cubicBezTo>
                <a:close/>
                <a:moveTo>
                  <a:pt x="208715" y="199693"/>
                </a:moveTo>
                <a:cubicBezTo>
                  <a:pt x="114600" y="204562"/>
                  <a:pt x="72827" y="267010"/>
                  <a:pt x="72827" y="366365"/>
                </a:cubicBezTo>
                <a:lnTo>
                  <a:pt x="72827" y="566720"/>
                </a:lnTo>
                <a:cubicBezTo>
                  <a:pt x="72827" y="625122"/>
                  <a:pt x="61054" y="650267"/>
                  <a:pt x="224" y="651483"/>
                </a:cubicBezTo>
                <a:lnTo>
                  <a:pt x="224" y="732542"/>
                </a:lnTo>
                <a:cubicBezTo>
                  <a:pt x="7522" y="733765"/>
                  <a:pt x="19282" y="733765"/>
                  <a:pt x="25368" y="733352"/>
                </a:cubicBezTo>
                <a:cubicBezTo>
                  <a:pt x="119871" y="727681"/>
                  <a:pt x="161249" y="664825"/>
                  <a:pt x="161249" y="566687"/>
                </a:cubicBezTo>
                <a:lnTo>
                  <a:pt x="161249" y="366332"/>
                </a:lnTo>
                <a:cubicBezTo>
                  <a:pt x="161249" y="307529"/>
                  <a:pt x="172206" y="282792"/>
                  <a:pt x="233451" y="281582"/>
                </a:cubicBezTo>
                <a:lnTo>
                  <a:pt x="233451" y="200102"/>
                </a:lnTo>
                <a:cubicBezTo>
                  <a:pt x="226555" y="199293"/>
                  <a:pt x="214795" y="199293"/>
                  <a:pt x="208715" y="199693"/>
                </a:cubicBezTo>
                <a:close/>
                <a:moveTo>
                  <a:pt x="480068" y="199693"/>
                </a:moveTo>
                <a:cubicBezTo>
                  <a:pt x="386368" y="204562"/>
                  <a:pt x="344181" y="267417"/>
                  <a:pt x="344181" y="366365"/>
                </a:cubicBezTo>
                <a:lnTo>
                  <a:pt x="344181" y="598726"/>
                </a:lnTo>
                <a:lnTo>
                  <a:pt x="432603" y="598726"/>
                </a:lnTo>
                <a:lnTo>
                  <a:pt x="432603" y="366332"/>
                </a:lnTo>
                <a:cubicBezTo>
                  <a:pt x="432603" y="307930"/>
                  <a:pt x="444375" y="282792"/>
                  <a:pt x="505212" y="281582"/>
                </a:cubicBezTo>
                <a:lnTo>
                  <a:pt x="505212" y="200102"/>
                </a:lnTo>
                <a:cubicBezTo>
                  <a:pt x="497907" y="199293"/>
                  <a:pt x="486148" y="199293"/>
                  <a:pt x="480068" y="199693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361440" rIns="945360" bIns="1094760" anchor="ctr">
            <a:noAutofit/>
          </a:bodyPr>
          <a:p>
            <a:endParaRPr lang="de-DE" sz="1800" b="0" u="none" strike="noStrike">
              <a:solidFill>
                <a:schemeClr val="dk1"/>
              </a:solidFill>
              <a:effectLst/>
              <a:uFillTx/>
              <a:latin typeface="SRH"/>
            </a:endParaRPr>
          </a:p>
        </p:txBody>
      </p:sp>
      <p:sp>
        <p:nvSpPr>
          <p:cNvPr id="176" name="Rechteck 13"/>
          <p:cNvSpPr/>
          <p:nvPr/>
        </p:nvSpPr>
        <p:spPr>
          <a:xfrm>
            <a:off x="0" y="1405800"/>
            <a:ext cx="12189240" cy="5449320"/>
          </a:xfrm>
          <a:prstGeom prst="rect">
            <a:avLst/>
          </a:prstGeom>
          <a:solidFill>
            <a:srgbClr val="EEED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90000" tIns="45000" rIns="90000" bIns="45000" anchor="ctr">
            <a:noAutofit/>
          </a:bodyPr>
          <a:p>
            <a:endParaRPr lang="de-DE" sz="1800" b="0" u="none" strike="noStrike">
              <a:solidFill>
                <a:srgbClr val="FFFFFF"/>
              </a:solidFill>
              <a:effectLst/>
              <a:uFillTx/>
              <a:latin typeface="SRH"/>
            </a:endParaRPr>
          </a:p>
        </p:txBody>
      </p: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360000" y="358920"/>
            <a:ext cx="915444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3000" b="1" u="none" strike="noStrike">
                <a:solidFill>
                  <a:schemeClr val="dk1"/>
                </a:solidFill>
                <a:effectLst/>
                <a:uFillTx/>
                <a:latin typeface="SRH Headline"/>
                <a:ea typeface="SRH Headline"/>
              </a:rPr>
              <a:t>Mastertitelformat bearbeiten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360000" y="2873880"/>
            <a:ext cx="9155880" cy="2323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dt" idx="5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ftr" idx="56"/>
          </p:nvPr>
        </p:nvSpPr>
        <p:spPr>
          <a:xfrm>
            <a:off x="1319400" y="635652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sldNum" idx="5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F4D24D-B87E-4A60-8AC4-0B8E384FCFD1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 type="body"/>
          </p:nvPr>
        </p:nvSpPr>
        <p:spPr>
          <a:xfrm>
            <a:off x="360000" y="1728000"/>
            <a:ext cx="9155880" cy="778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1pPr>
            <a:lvl2pPr lvl="1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2pPr>
            <a:lvl3pPr lvl="2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defRPr>
            </a:lvl3pPr>
            <a:lvl4pPr lvl="3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defRPr>
            </a:lvl4pPr>
            <a:lvl5pPr lvl="4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5pPr>
            <a:lvl6pPr lvl="5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defRPr>
            </a:lvl6pPr>
            <a:lvl7pPr lvl="6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defRPr>
            </a:lvl7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Click to edit the outline text format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457200" lvl="1" indent="-324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Second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914400" lvl="2" indent="-288000" algn="l" defTabSz="9144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Text"/>
              </a:rPr>
              <a:t>Third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1371600" lvl="3" indent="-216000" algn="l" defTabSz="914400">
              <a:lnSpc>
                <a:spcPct val="110000"/>
              </a:lnSpc>
              <a:spcBef>
                <a:spcPts val="24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Text"/>
              </a:rPr>
              <a:t>Fourth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Text"/>
            </a:endParaRPr>
          </a:p>
          <a:p>
            <a:pPr marL="1828800" lvl="4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Fifth Outline Level</a:t>
            </a: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286000" lvl="5" indent="-216000" algn="l" defTabSz="914400">
              <a:lnSpc>
                <a:spcPct val="110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SRH Headline"/>
              </a:rPr>
              <a:t>Sixth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  <a:p>
            <a:pPr marL="2743200" lvl="6" indent="-216000" algn="l" defTabSz="914400">
              <a:lnSpc>
                <a:spcPct val="98000"/>
              </a:lnSpc>
              <a:spcBef>
                <a:spcPts val="11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800" b="1" u="none" strike="noStrike">
                <a:solidFill>
                  <a:schemeClr val="accent1"/>
                </a:solidFill>
                <a:effectLst/>
                <a:uFillTx/>
                <a:latin typeface="SRH Headline"/>
              </a:rPr>
              <a:t>Seventh Outline Level</a:t>
            </a:r>
            <a:endParaRPr lang="de-DE" sz="1800" b="1" u="none" strike="noStrike">
              <a:solidFill>
                <a:schemeClr val="accent1"/>
              </a:solidFill>
              <a:effectLst/>
              <a:uFillTx/>
              <a:latin typeface="SRH Headline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 type="body"/>
          </p:nvPr>
        </p:nvSpPr>
        <p:spPr>
          <a:xfrm>
            <a:off x="360000" y="5463720"/>
            <a:ext cx="9155880" cy="4917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lstStyle>
            <a:lvl1pPr indent="0" algn="l" defTabSz="914400">
              <a:lnSpc>
                <a:spcPct val="110000"/>
              </a:lnSpc>
              <a:buNone/>
              <a:tabLst>
                <a:tab pos="0" algn="l"/>
              </a:tabLst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defRPr>
            </a:lvl1pPr>
          </a:lstStyle>
          <a:p>
            <a:pPr indent="0" algn="l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Mastertextformat bearbeiten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6.emf"/><Relationship Id="rId2" Type="http://schemas.openxmlformats.org/officeDocument/2006/relationships/image" Target="../media/image27.emf"/><Relationship Id="rId3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299880" y="1143000"/>
            <a:ext cx="11253600" cy="1702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ctr" defTabSz="9144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40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 Reliability-Aware Decision Framework for Cost-Sensitive Selective Prediction in Credit Risk under Distribution Shift </a:t>
            </a:r>
            <a:br>
              <a:rPr sz="4000"/>
            </a:br>
            <a:endParaRPr lang="de-DE" sz="4000" b="1" u="none" strike="noStrike">
              <a:solidFill>
                <a:schemeClr val="lt1"/>
              </a:solidFill>
              <a:effectLst/>
              <a:uFillTx/>
              <a:latin typeface="SRH Headline"/>
            </a:endParaRPr>
          </a:p>
        </p:txBody>
      </p:sp>
      <p:sp>
        <p:nvSpPr>
          <p:cNvPr id="185" name="object 12"/>
          <p:cNvSpPr/>
          <p:nvPr/>
        </p:nvSpPr>
        <p:spPr>
          <a:xfrm rot="21561000">
            <a:off x="448560" y="4150800"/>
            <a:ext cx="6417360" cy="201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12600" rIns="0" bIns="0" anchor="t">
            <a:noAutofit/>
          </a:bodyPr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Amin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RH"/>
                <a:ea typeface="SRH"/>
              </a:rPr>
              <a:t> </a:t>
            </a: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Feli (11038701) 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Supervisor: Prof . Dr. Mehrdad Jalali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3345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SRH Headline"/>
                <a:ea typeface="SRH Headline"/>
              </a:rPr>
              <a:t>SRH Hochschule Heidelberg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50000"/>
              </a:lnSpc>
              <a:spcBef>
                <a:spcPts val="3345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dt" idx="58"/>
          </p:nvPr>
        </p:nvSpPr>
        <p:spPr>
          <a:xfrm>
            <a:off x="172080" y="6231960"/>
            <a:ext cx="87228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2490BB6-CFD1-4B13-B77F-C0239404BDE5}" type="datetime1">
              <a:rPr lang="en-CA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ftr" idx="59"/>
          </p:nvPr>
        </p:nvSpPr>
        <p:spPr>
          <a:xfrm>
            <a:off x="1133640" y="6285240"/>
            <a:ext cx="649260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SRH Hochschule Heidelberg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sldNum" idx="60"/>
          </p:nvPr>
        </p:nvSpPr>
        <p:spPr>
          <a:xfrm>
            <a:off x="11058480" y="6311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E8BD2F-257E-45E8-A173-617E082603D3}" type="slidenum">
              <a:rPr lang="de-DE" sz="1550" b="1" u="none" strike="noStrike">
                <a:solidFill>
                  <a:schemeClr val="lt1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Introduction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276840" y="914400"/>
            <a:ext cx="1080288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What is Credit Risk?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risk is a fundamental task in finance and banking, designed to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estimate the likelihood that a borrower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will default on a loan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or fail to meet contractual debt obligations.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Why is Credit Risk Prediction Important?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Banks make decisions based on information about applicants, such as their occupation_status , credit history, and credit_score .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Machine Learning (ML) models can learn patterns from historical data and estimate the probability that an applicant will default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. refine it in the simple way.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    A reliable prediction system can help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to: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Reduce losses from unpaid loans.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Make better lending decisions.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Manage money and capital more efficiently.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dt" idx="6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AA828F4-606A-4991-90B4-106343FD691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ftr" idx="6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 type="sldNum" idx="6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38A515-006F-4563-8D1C-ED38C66B17B3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60984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Problem Statement: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276840" y="741600"/>
            <a:ext cx="11609280" cy="59490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Static decision thresholds: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many systems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rely on a fixed decision threshold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commonly 0.5, which does not adequately reflect the changing financial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trade-offs between false positives and false negatives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 This can lead to suboptimal lending decisions under different risk and cost conditions.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Fixed cost-sensitive learning: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Although cost-sensitive learning is widely used to account for the unequal consequences of classification errors,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penalty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structures are generally predefined and fixed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 They therefore lack the flexibility to adapt to changing business constraints, operational conditions, and risk preferences.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Lack of selective prediction: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Conventional credit risk models typically provide deterministic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binary predictions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without explicitly quantifying prediction uncertainty. Consequently, they may automatically make decisions for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ambiguous cases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where the model is insufficiently confident and human intervention would be more appropriate.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distribution shift:</a:t>
            </a:r>
            <a:r>
              <a:rPr lang="de-DE" sz="13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Most credit risk models are developed and evaluated under the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assumption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that the underlying data distribution remains relatively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stable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Times New Roman"/>
              </a:rPr>
              <a:t> In real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banking environments, however,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economic conditions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customer behavior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, and credit patterns continuously change, resulting in data distribution shifts that can reduce model performance and reliability over time.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Lack of continuous reliability monitoring:</a:t>
            </a:r>
            <a:r>
              <a:rPr lang="de-DE" sz="13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Times New Roman"/>
              </a:rPr>
              <a:t> 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Existing approaches often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evaluate model performance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 periodically rather than </a:t>
            </a:r>
            <a:r>
              <a:rPr lang="de-DE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continuously after deployment</a:t>
            </a:r>
            <a:r>
              <a:rPr lang="de-DE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Times New Roman"/>
              </a:rPr>
              <a:t>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dt" idx="6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02D5A46-2D6B-443D-9613-D7DC69D37567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ftr" idx="65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sldNum" idx="6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82514F-E31C-4C6A-9138-11C72C90B1CE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Table of Content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276840" y="987480"/>
            <a:ext cx="1080288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Introduction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Problem Statement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Methodology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Data Preprocessing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Exploratory Data Analysis (EDA)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Model Explainability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Selective Prediction / Risk-Based Decision System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Model Monitoring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8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Results &amp; Key Findings 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dt" idx="6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3B0C7D9-764B-4C5B-87E0-5380CC6CD97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ftr" idx="68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sldNum" idx="6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F1C329-8666-4B41-B563-B5CAB5C44F8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Dataset &amp; Data Description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2880" cy="5547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indent="0" algn="just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Dataset Overview 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This dataset contains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50,000 loan application records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with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20 features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describing applicants' demographic characteristics, employment and financial status, credit history, and loan information. It is designed for credit risk assessment and loan outcome prediction using machine learning methods.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includes information such as age, occupation status, employment history, annual income, credit score, savings, debt, previous defaults, delinquencies, loan amount, interest rate, and several financial ratios.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also contains categorical variables describing the applicant's employment status, product type, and loan intent, together with numerical variables representing the applicant's financial and credit characteristics.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target variable, </a:t>
            </a:r>
            <a:r>
              <a:rPr lang="en-US" sz="16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loan_status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, represents the loan outcome: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0 = Rejected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1 = Approved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dt" idx="7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89DC2D6-6F17-4156-B14B-AFDC99712760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ftr" idx="71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5"/>
          <p:cNvSpPr>
            <a:spLocks noGrp="1"/>
          </p:cNvSpPr>
          <p:nvPr>
            <p:ph type="sldNum" idx="7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CDD5A9-09F9-43CB-A6E9-C174AA7EBB6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 Processing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288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Checking Corrupted Rows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The purpose of this step was to identify invalid, corrupted, or logically inconsistent records before applying machine learning models.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The code performed the following validation processes: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Range Validation:</a:t>
            </a:r>
            <a:r>
              <a:rPr lang="en-US" sz="15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Checked realistic ranges for age, credit score, employment, and credit history.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Negative Values: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Detected invalid negative values in financial and credit variables.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Ratio Validation: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Verified Debt-to-Income Ratio, Loan-to-Income Ratio, and payment-to-income ratios.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Symbol" charset="2"/>
              <a:buChar char=""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Text Validation:</a:t>
            </a: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 Used Regex to identify malformed categorical values and validated loan_status.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dt" idx="7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5A3793E-7D67-4BE6-B044-33550E7A6242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ftr" idx="74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sldNum" idx="7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BFA342-B653-4E0B-A620-E25BCE82B64C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228600" y="457200"/>
            <a:ext cx="10802880" cy="59425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Data Type Standardization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Ensured all key numerical variables use consistent data types.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Missing Value Analysis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Identified missing values that could affect model performance.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Categorical Data Consistency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Examined categorical variables for inconsistent labels.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Identified potential duplicates such as “Male” and “male.”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Duplicate Records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dataset was checked for duplicated observations.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dt" idx="7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ED6D61B-673C-46E2-B7B0-0552EDB53AF1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 type="ftr" idx="77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PlaceHolder 5"/>
          <p:cNvSpPr>
            <a:spLocks noGrp="1"/>
          </p:cNvSpPr>
          <p:nvPr>
            <p:ph type="sldNum" idx="7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C0A63F-23B8-428F-9944-21D8E8C29C8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icture 1"/>
          <p:cNvPicPr/>
          <p:nvPr/>
        </p:nvPicPr>
        <p:blipFill>
          <a:blip r:embed="rId1"/>
          <a:stretch/>
        </p:blipFill>
        <p:spPr>
          <a:xfrm>
            <a:off x="1706760" y="1076760"/>
            <a:ext cx="8569080" cy="517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Exploratory Data Analysis (EDA)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525672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0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Statistical Overview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study uses a real-world dataset containing loan application records. This includes: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👤 Applicant Characteristics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Age: 18–70 years, with a mean of 35.0 years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Years employed: 0–39.9 years, with a mean of 7.45 years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€15,000–€250,000, with a mean of approximately €50,063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Credit score: 348–850, with a mean of 643.6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dt" idx="7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09FDF0D-D788-4A93-B18A-B89EDAB10BC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ftr" idx="80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sldNum" idx="8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3F9DCD-B3F2-40DC-B683-7E464C715ED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PlaceHolder 151"/>
          <p:cNvSpPr/>
          <p:nvPr/>
        </p:nvSpPr>
        <p:spPr>
          <a:xfrm>
            <a:off x="6348960" y="1272960"/>
            <a:ext cx="5256720" cy="53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Key features: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Numerical: income, debt-to-income ratio, credit history length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Categorical: job type, education, residence status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Derived: risk score, monthly debt obligations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Outlier Analysis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1080288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Most variables contained normal-range observations with some outliers.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The highest number of </a:t>
            </a: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normal outliers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was found in: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Savings assets: 6,508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Current debt: 2,932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2,355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Years employed: 1,373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Extreme outliers</a:t>
            </a: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 were mainly observed in: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Savings assets: 4,353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Current debt: 859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Annual income: 515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 extreme outliers were detected in age, credit score, loan amount, interest rate, or the ratio variables.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dt" idx="8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7084755-B6E7-404D-A715-F3D5B9F0B018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ftr" idx="83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5"/>
          <p:cNvSpPr>
            <a:spLocks noGrp="1"/>
          </p:cNvSpPr>
          <p:nvPr>
            <p:ph type="sldNum" idx="8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335F8B-D19D-47B0-AEBB-F50C003790E1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1" name=""/>
          <p:cNvPicPr/>
          <p:nvPr/>
        </p:nvPicPr>
        <p:blipFill>
          <a:blip r:embed="rId1"/>
          <a:stretch/>
        </p:blipFill>
        <p:spPr>
          <a:xfrm>
            <a:off x="4800600" y="1828800"/>
            <a:ext cx="7037640" cy="434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Distribution &amp; Skewness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288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Transformation Strategy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Highly Skewed Features → Log Transformation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Compresses extreme values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Reduces right-skewness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Produces more stable distributions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Continuous Features → StandardScaler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Centers features around zero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Normalizes the scale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Prevents large-scale variables from dominating model training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dt" idx="8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2DF4B05-9847-4847-BA88-BA50BD836FF2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4"/>
          <p:cNvSpPr>
            <a:spLocks noGrp="1"/>
          </p:cNvSpPr>
          <p:nvPr>
            <p:ph type="ftr" idx="86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sldNum" idx="8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4FC42D-93CD-4DA2-A5FC-556E1FBA44C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7" name=""/>
          <p:cNvPicPr/>
          <p:nvPr/>
        </p:nvPicPr>
        <p:blipFill>
          <a:blip r:embed="rId1"/>
          <a:stretch/>
        </p:blipFill>
        <p:spPr>
          <a:xfrm>
            <a:off x="5832720" y="1371600"/>
            <a:ext cx="5367600" cy="457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Distribution &amp; Skewness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Effect of Log Transformation on Skewness 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dt" idx="8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1B04632-2C4B-4DAD-A7F4-5285F03C2071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ftr" idx="89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PlaceHolder 5"/>
          <p:cNvSpPr>
            <a:spLocks noGrp="1"/>
          </p:cNvSpPr>
          <p:nvPr>
            <p:ph type="sldNum" idx="9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524C30-3746-448F-8043-70F750A89D5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3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8672760" cy="256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Correlation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80288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Spearman rank correlation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(ρ) was used to examine relationships between the engineered numerical features and the target variable.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Important Feature Relationships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Some predictors also show relatively strong correlations with each other: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↔ Payment-to-Income: ρ = 0.815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 Amount ↔ Loan-to-Income: ρ = 0.755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Current Debt ↔ Debt-to-Income: ρ = 0.716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Age ↔ Credit History: ρ = 0.664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Annual Income ↔ Current Debt: ρ = 0.657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dt" idx="9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0F4A30F-F476-47AB-A2CD-E61AD95FBC5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4"/>
          <p:cNvSpPr>
            <a:spLocks noGrp="1"/>
          </p:cNvSpPr>
          <p:nvPr>
            <p:ph type="ftr" idx="9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PlaceHolder 5"/>
          <p:cNvSpPr>
            <a:spLocks noGrp="1"/>
          </p:cNvSpPr>
          <p:nvPr>
            <p:ph type="sldNum" idx="9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23CB9B-6959-42A4-B1CB-7384EA9F87D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9" name=""/>
          <p:cNvPicPr/>
          <p:nvPr/>
        </p:nvPicPr>
        <p:blipFill>
          <a:blip r:embed="rId1"/>
          <a:stretch/>
        </p:blipFill>
        <p:spPr>
          <a:xfrm>
            <a:off x="6071400" y="1600200"/>
            <a:ext cx="6075000" cy="476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Correlation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600200" y="914400"/>
            <a:ext cx="8457120" cy="570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PlaceHolder 2"/>
          <p:cNvSpPr>
            <a:spLocks noGrp="1"/>
          </p:cNvSpPr>
          <p:nvPr>
            <p:ph type="dt" idx="9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97BA214-AD5E-4FBB-ADCC-C5EA7E2756DC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ftr" idx="95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sldNum" idx="9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453A0-B11A-4C51-9F27-8D6EB1DA0911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Feature Importance</a:t>
            </a: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— XGBoost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479952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XGBoost was used to identify the most influential features for credit-risk prediction.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important features were: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22.8%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Delinquencies: 14.9%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14.2%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No features had importance below 0.02,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so no feature was removed based on this criterion.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dt" idx="9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A29ED95-EEE9-4144-8AFF-ED04A144D701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 type="ftr" idx="98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5"/>
          <p:cNvSpPr>
            <a:spLocks noGrp="1"/>
          </p:cNvSpPr>
          <p:nvPr>
            <p:ph type="sldNum" idx="9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026A29-8B78-4948-9F14-A5665EE50CC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0" name=""/>
          <p:cNvPicPr/>
          <p:nvPr/>
        </p:nvPicPr>
        <p:blipFill>
          <a:blip r:embed="rId1"/>
          <a:stretch/>
        </p:blipFill>
        <p:spPr>
          <a:xfrm>
            <a:off x="4755240" y="1600200"/>
            <a:ext cx="7169040" cy="388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Permutation Feature Importance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051452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 method to measure the importance of each feature in a machine learning model.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Idea: Randomly shuffle a feature’s values and see how the model performance changes.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How it works: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Train the model on the data and calculate </a:t>
            </a: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baseline performance</a:t>
            </a: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(e.g., accuracy, R²).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For each feature: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Shuffle its values randomly.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Re-evaluate the model performance.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10000"/>
              </a:lnSpc>
              <a:spcBef>
                <a:spcPts val="1199"/>
              </a:spcBef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Compare performance: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Big drop in performance → feature is very important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10000"/>
              </a:lnSpc>
              <a:spcBef>
                <a:spcPts val="1199"/>
              </a:spcBef>
              <a:buClr>
                <a:srgbClr val="DF4807"/>
              </a:buClr>
              <a:buFont typeface="SRH"/>
              <a:buChar char="—"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Little or no change → feature is less important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dt" idx="10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B0200E0-6D72-4295-B664-9E6FEB7F0A03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 type="ftr" idx="101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PlaceHolder 5"/>
          <p:cNvSpPr>
            <a:spLocks noGrp="1"/>
          </p:cNvSpPr>
          <p:nvPr>
            <p:ph type="sldNum" idx="10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B3205E-44F3-4A9F-AE56-E3299880562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Permutation Importance Analysis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6171120" cy="5485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Permutation importance was used to measure the actual impact of each feature on model performance.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influential features were: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0.177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0.112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ratio: 0.033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Features such as annual income and savings assets showed almost no impact.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Negative or near-zero importance indicates that shuffling these features did not improve or slightly improved—model performance.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dt" idx="10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910C94A-6208-41FC-BC39-26EC86767136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ftr" idx="104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PlaceHolder 5"/>
          <p:cNvSpPr>
            <a:spLocks noGrp="1"/>
          </p:cNvSpPr>
          <p:nvPr>
            <p:ph type="sldNum" idx="10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AA8496-E520-4093-83DE-4C3B7DA66A8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1" name=""/>
          <p:cNvPicPr/>
          <p:nvPr/>
        </p:nvPicPr>
        <p:blipFill>
          <a:blip r:embed="rId1"/>
          <a:stretch/>
        </p:blipFill>
        <p:spPr>
          <a:xfrm>
            <a:off x="6406920" y="2044800"/>
            <a:ext cx="5412600" cy="274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SHAP-Based Feature Importance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6171120" cy="5703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SHAP was used to measure how strongly each feature contributes to the model's predictions.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most influential features were: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score: 1.477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Debt-to-income ratio: 1.294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Credit history: 0.676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Loan-to-income ratio: 0.566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Delinquencies: 0.557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Savings assets, payment-to-income ratio, and current debt had relatively low contributions.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Based on the SHAP results, low-impact features were considered for removal to simplify the model.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10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9478CAC-D02E-4A8A-BAA1-6414C64C113C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ftr" idx="107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sldNum" idx="10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1971EA-24AA-445D-947C-DC3DDA73896A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7" name=""/>
          <p:cNvPicPr/>
          <p:nvPr/>
        </p:nvPicPr>
        <p:blipFill>
          <a:blip r:embed="rId1"/>
          <a:stretch/>
        </p:blipFill>
        <p:spPr>
          <a:xfrm>
            <a:off x="7086600" y="914400"/>
            <a:ext cx="4403160" cy="548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rgbClr val="DF4807"/>
                </a:solidFill>
                <a:effectLst/>
                <a:uFillTx/>
                <a:latin typeface="SRH Headline"/>
                <a:ea typeface="SRH Headline"/>
              </a:rPr>
              <a:t>Related Articles</a:t>
            </a: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279" name=""/>
          <p:cNvPicPr/>
          <p:nvPr/>
        </p:nvPicPr>
        <p:blipFill>
          <a:blip r:embed="rId1"/>
          <a:stretch/>
        </p:blipFill>
        <p:spPr>
          <a:xfrm>
            <a:off x="2971800" y="3344400"/>
            <a:ext cx="5485680" cy="32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PlaceHolder 2"/>
          <p:cNvSpPr>
            <a:spLocks noGrp="1"/>
          </p:cNvSpPr>
          <p:nvPr>
            <p:ph type="dt" idx="10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280F8F3-F20C-40C2-8569-C1234FE540C3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ftr" idx="110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PlaceHolder 4"/>
          <p:cNvSpPr>
            <a:spLocks noGrp="1"/>
          </p:cNvSpPr>
          <p:nvPr>
            <p:ph type="sldNum" idx="11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40C64F-97CB-489C-88C8-7920932D645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3" name=""/>
          <p:cNvPicPr/>
          <p:nvPr/>
        </p:nvPicPr>
        <p:blipFill>
          <a:blip r:embed="rId2"/>
          <a:stretch/>
        </p:blipFill>
        <p:spPr>
          <a:xfrm>
            <a:off x="3200400" y="829800"/>
            <a:ext cx="5485680" cy="242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191880" y="538560"/>
            <a:ext cx="9155160" cy="6037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2600"/>
            </a:b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</a:t>
            </a:r>
            <a:br>
              <a:rPr sz="2600"/>
            </a:b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   Class Imbalance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/>
          </p:nvPr>
        </p:nvSpPr>
        <p:spPr>
          <a:xfrm>
            <a:off x="228600" y="1333800"/>
            <a:ext cx="10802880" cy="5065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distribution of the target variable was examined to determine whether the dataset contains a significant class imbalance and whether imbalance-handling techniques are required.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11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CD61FD7F-F5C6-44CD-B7B7-C52A9A2C0C5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ftr" idx="113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sldNum" idx="11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45764F-9B56-451F-9530-73298ECE522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9" name=""/>
          <p:cNvPicPr/>
          <p:nvPr/>
        </p:nvPicPr>
        <p:blipFill>
          <a:blip r:embed="rId1"/>
          <a:stretch/>
        </p:blipFill>
        <p:spPr>
          <a:xfrm>
            <a:off x="8229960" y="1600560"/>
            <a:ext cx="2971080" cy="457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0" name=""/>
          <p:cNvPicPr/>
          <p:nvPr/>
        </p:nvPicPr>
        <p:blipFill>
          <a:blip r:embed="rId2"/>
          <a:stretch/>
        </p:blipFill>
        <p:spPr>
          <a:xfrm>
            <a:off x="99720" y="2020320"/>
            <a:ext cx="6757920" cy="23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191880" y="228600"/>
            <a:ext cx="9155160" cy="6850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br>
              <a:rPr sz="1800"/>
            </a:br>
            <a:r>
              <a:rPr lang="de-DE" sz="18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Machine Learning Model Development &amp; Cost-Sensitive Optimization</a:t>
            </a:r>
            <a:br>
              <a:rPr sz="1800"/>
            </a:br>
            <a:endParaRPr lang="de-DE" sz="18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6856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Algorithm: XGBoost (Extreme Gradient Boosting)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Data Split: </a:t>
            </a:r>
            <a:r>
              <a:rPr lang="en-US" sz="14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80% Training | 10% Validation | 10% Test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Class Imbalance: Class weights applied during training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Hyperparameter Optimization: Grid Search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n_estimators: [200, 300, 400, 500,600,700]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learning_rate: [0.03, 0.05, 0.07, 0.1 ,0.2, 0.3]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max_depth: [3, 4, 5, 6,7,8]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min_child_weight: [1, 3, 5, 7, 9]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Total: 1080 XGBoost configurations evaluated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dt" idx="11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0396052-6B4A-48AA-9DD2-C883C243B537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ftr" idx="116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PlaceHolder 5"/>
          <p:cNvSpPr>
            <a:spLocks noGrp="1"/>
          </p:cNvSpPr>
          <p:nvPr>
            <p:ph type="sldNum" idx="11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62B596-C936-4361-BBE3-A27C23DAE77F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4570920" cy="54748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5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Find optimal threshold:</a:t>
            </a:r>
            <a:endParaRPr lang="de-DE" sz="15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Standard approach → Fixed threshold = 0.50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Proposed approach → Optimize the decision threshold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Tested thresholds: (0.15, 0.6, 0.01)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Business cost function: prioritize low FN, penalize FP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Cost = 2.5 × FN + FP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p(default)&lt; 0.50-→ Approved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SRH Text"/>
                <a:ea typeface="SRH Text"/>
              </a:rPr>
              <a:t>p(default)&gt; 0.50-→ Rejected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1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dt" idx="11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E72B093-4422-4F8A-9398-B4DFB154489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ftr" idx="119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5"/>
          <p:cNvSpPr>
            <a:spLocks noGrp="1"/>
          </p:cNvSpPr>
          <p:nvPr>
            <p:ph type="sldNum" idx="12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87DDE1-A827-4A76-B99A-D2427651F2EB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1" name=""/>
          <p:cNvPicPr/>
          <p:nvPr/>
        </p:nvPicPr>
        <p:blipFill>
          <a:blip r:embed="rId1"/>
          <a:stretch/>
        </p:blipFill>
        <p:spPr>
          <a:xfrm>
            <a:off x="8458200" y="1334160"/>
            <a:ext cx="3016080" cy="346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PlaceHolder 6"/>
          <p:cNvSpPr/>
          <p:nvPr/>
        </p:nvSpPr>
        <p:spPr>
          <a:xfrm>
            <a:off x="4764960" y="624960"/>
            <a:ext cx="3463920" cy="48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Each model was evaluated using: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AUC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Negatives (FN)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Positives (FP)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Error balance:FP/FN Ratio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Minimum Business Cost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de-DE" sz="3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pic>
        <p:nvPicPr>
          <p:cNvPr id="304" name=""/>
          <p:cNvPicPr/>
          <p:nvPr/>
        </p:nvPicPr>
        <p:blipFill>
          <a:blip r:embed="rId1"/>
          <a:stretch/>
        </p:blipFill>
        <p:spPr>
          <a:xfrm>
            <a:off x="1618200" y="696240"/>
            <a:ext cx="7524720" cy="550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2"/>
          <p:cNvSpPr>
            <a:spLocks noGrp="1"/>
          </p:cNvSpPr>
          <p:nvPr>
            <p:ph type="dt" idx="12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22ED447-1AAE-4DED-BB63-8531F024B14A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ftr" idx="12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PlaceHolder 4"/>
          <p:cNvSpPr>
            <a:spLocks noGrp="1"/>
          </p:cNvSpPr>
          <p:nvPr>
            <p:ph type="sldNum" idx="12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F9D364-5249-4F04-B0F2-7C330F8F9E62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0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Explainable AI: SHAP-Based Model Interpretation</a:t>
            </a:r>
            <a:endParaRPr lang="de-DE" sz="20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228600" y="912600"/>
            <a:ext cx="5714280" cy="51868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Objective: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Interpret how the XGBoost model makes credit-risk predictions and identify the features that drive its decisions.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SHAP Framework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TreeExplainer applied to the final XGBoost model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2,000 test observations analyzed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Global feature importance based on mean |SHAP value|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SHAP dependence plots used to examine feature effects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dt" idx="124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D80EF0A-DC2D-4F90-B03A-B0C99A1B66B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PlaceHolder 4"/>
          <p:cNvSpPr>
            <a:spLocks noGrp="1"/>
          </p:cNvSpPr>
          <p:nvPr>
            <p:ph type="ftr" idx="125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PlaceHolder 5"/>
          <p:cNvSpPr>
            <a:spLocks noGrp="1"/>
          </p:cNvSpPr>
          <p:nvPr>
            <p:ph type="sldNum" idx="126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08A2DE-562B-4740-996A-42257D20A097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PlaceHolder 7"/>
          <p:cNvSpPr/>
          <p:nvPr/>
        </p:nvSpPr>
        <p:spPr>
          <a:xfrm>
            <a:off x="5988960" y="912600"/>
            <a:ext cx="4983120" cy="548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Key Findings: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Credit Score: 19.42% of total SHAP importance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Debt-to-Income Ratio: 15.95%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Credit History: 9.65%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Loan-to-Income Ratio: 8.42%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Education Loan Intent: 8.15%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Explainable AI: SHAP-Based Model Interpretation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228600" y="1371600"/>
            <a:ext cx="4799880" cy="479988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Cumulative importance of top 10 features: 84.39%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333333"/>
                </a:solidFill>
                <a:effectLst/>
                <a:uFillTx/>
                <a:latin typeface="SRH Text"/>
                <a:ea typeface="SRH Text"/>
              </a:rPr>
              <a:t>Cumulative importance of top 20 features: 98.83% 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dt" idx="127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876AF3D-6B44-4C8D-A7F6-3016F0453DED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 type="ftr" idx="128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 type="sldNum" idx="129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C89D3C-BA94-4B37-8172-C0BCA8F73015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9" name=""/>
          <p:cNvPicPr/>
          <p:nvPr/>
        </p:nvPicPr>
        <p:blipFill>
          <a:blip r:embed="rId1"/>
          <a:stretch/>
        </p:blipFill>
        <p:spPr>
          <a:xfrm>
            <a:off x="5729400" y="1009800"/>
            <a:ext cx="4941720" cy="571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Selective Prediction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11200320" cy="58143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Traditional classification forces an automatic decision for every applicant.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My approach: allow the model to abstain from uncertain cases and refer them to human loan officers.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Two-Threshold Decision Policy: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Probability of Default &lt; thresholds t₁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🟢 AUTO APPROVE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 (  low-risk  )                                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                                                                                                                                             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thresholds t₁ ≤ Probability of Default ≤ thresholds t₂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🟠 MANUAL REVIEW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(  uncertain )</a:t>
            </a: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                                                                                                                                                                    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 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Probability of Default &gt; thresholds t₂     </a:t>
            </a: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🔴 AUTO REJECT</a:t>
            </a:r>
            <a:r>
              <a:rPr lang="en-US" sz="1300" b="1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(  high-risk  )                                 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dt" idx="130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DA89A3F-6740-40B5-9015-12464FB3E8A7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ftr" idx="131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PlaceHolder 5"/>
          <p:cNvSpPr>
            <a:spLocks noGrp="1"/>
          </p:cNvSpPr>
          <p:nvPr>
            <p:ph type="sldNum" idx="132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299BC-C000-4C3E-B18E-AED58F4ADCD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2857680" y="5014440"/>
            <a:ext cx="4914720" cy="138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Selective Prediction — Test Set Results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3656520" cy="52459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Test-Set Decision Distribution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 Accept: 1,780 (35.60%)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 Reject: 2,604 (52.08%)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Manual Review: 616 (12.32%)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9"/>
              </a:spcBef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dt" idx="133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21EDE80-9009-4DDD-B918-020A4CA74655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PlaceHolder 4"/>
          <p:cNvSpPr>
            <a:spLocks noGrp="1"/>
          </p:cNvSpPr>
          <p:nvPr>
            <p:ph type="ftr" idx="134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PlaceHolder 5"/>
          <p:cNvSpPr>
            <a:spLocks noGrp="1"/>
          </p:cNvSpPr>
          <p:nvPr>
            <p:ph type="sldNum" idx="135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B89B64-F15D-4455-95B1-314BD56E3AD0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1" name=""/>
          <p:cNvPicPr/>
          <p:nvPr/>
        </p:nvPicPr>
        <p:blipFill>
          <a:blip r:embed="rId1"/>
          <a:stretch/>
        </p:blipFill>
        <p:spPr>
          <a:xfrm>
            <a:off x="4212000" y="1143000"/>
            <a:ext cx="6988320" cy="525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Selective Prediction — Test Set Results 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dt" idx="136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0F557C3-CD87-4348-8C75-E45927E1E69F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ftr" idx="137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PlaceHolder 4"/>
          <p:cNvSpPr>
            <a:spLocks noGrp="1"/>
          </p:cNvSpPr>
          <p:nvPr>
            <p:ph type="sldNum" idx="138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D8CD7D-8126-46F5-8EDF-0C5870E1BC36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6" name=""/>
          <p:cNvPicPr/>
          <p:nvPr/>
        </p:nvPicPr>
        <p:blipFill>
          <a:blip r:embed="rId1"/>
          <a:stretch/>
        </p:blipFill>
        <p:spPr>
          <a:xfrm>
            <a:off x="479520" y="1242360"/>
            <a:ext cx="10720800" cy="447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Reliability Monitoring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228600" y="696600"/>
            <a:ext cx="5256720" cy="603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Ensure that the credit-risk model remains reliable after deployment when customer populations and data distributions change.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Automated Monitoring Pipeline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1. DATA DRIFT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Monitor changes in customer characteristics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→ measures changes in feature distributions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PSI Interpretation: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dt" idx="139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DF17C17-A4C7-43FE-A06C-ED0FBD0574CA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 type="ftr" idx="140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PlaceHolder 5"/>
          <p:cNvSpPr>
            <a:spLocks noGrp="1"/>
          </p:cNvSpPr>
          <p:nvPr>
            <p:ph type="sldNum" idx="141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695EA1-367E-4DC4-ADAF-8A07B90109B9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13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PlaceHolder 114"/>
          <p:cNvSpPr/>
          <p:nvPr/>
        </p:nvSpPr>
        <p:spPr>
          <a:xfrm>
            <a:off x="6172200" y="685800"/>
            <a:ext cx="5256720" cy="60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Test → compares reference and new distributions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KS Interpretation: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2. PREDICTION / MODEL MONITORING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Monitor changes in model behavior and performance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AUC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Accuracy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Negatives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False Positives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"/>
          <p:cNvPicPr/>
          <p:nvPr/>
        </p:nvPicPr>
        <p:blipFill>
          <a:blip r:embed="rId1"/>
          <a:stretch/>
        </p:blipFill>
        <p:spPr>
          <a:xfrm>
            <a:off x="228600" y="4343400"/>
            <a:ext cx="5247720" cy="114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4" name=""/>
          <p:cNvPicPr/>
          <p:nvPr/>
        </p:nvPicPr>
        <p:blipFill>
          <a:blip r:embed="rId2"/>
          <a:stretch/>
        </p:blipFill>
        <p:spPr>
          <a:xfrm>
            <a:off x="6400800" y="1828800"/>
            <a:ext cx="5008320" cy="100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Reliability Monitoring Framework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5714280" cy="5451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3. RELIABILITY ACTION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Detect degradation → Generate alert → Investigate / Retrain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Drift Classification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🟢 Stable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🟠 Moderate Drift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-28584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🔴 Significant Drift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dt" idx="142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1DFB1EA-5E87-4F1B-AB7D-82F2BB457C2C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 type="ftr" idx="143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PlaceHolder 5"/>
          <p:cNvSpPr>
            <a:spLocks noGrp="1"/>
          </p:cNvSpPr>
          <p:nvPr>
            <p:ph type="sldNum" idx="144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1A6142-9BD0-46E3-B867-3374A8076FE4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PlaceHolder 152"/>
          <p:cNvSpPr/>
          <p:nvPr/>
        </p:nvSpPr>
        <p:spPr>
          <a:xfrm>
            <a:off x="6168960" y="914400"/>
            <a:ext cx="594576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3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Reference Population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validation dataset was used as the baseline because it represents unseen customers.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Key Contribution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The model is not treated as a static predictor.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575756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en-US" sz="1400" b="0" u="none" strike="noStrike">
                <a:solidFill>
                  <a:srgbClr val="1C1C1C"/>
                </a:solidFill>
                <a:effectLst/>
                <a:uFillTx/>
                <a:latin typeface="SRH Text"/>
                <a:ea typeface="SRH Text"/>
              </a:rPr>
              <a:t>Reliability is continuously monitored under distribution shift.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191880" y="-14760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marL="28584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rgbClr val="FF4000"/>
                </a:solidFill>
                <a:effectLst/>
                <a:uFillTx/>
                <a:latin typeface="SRH Text"/>
                <a:ea typeface="SRH Text"/>
              </a:rPr>
              <a:t>Nightly Automated Model Monitoring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228600" y="914400"/>
            <a:ext cx="5942520" cy="54511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Purpose: Continuously monitor the deployed credit-risk model for data and prediction changes.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Monitoring Pipeline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Collect new data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Latest scored loan applications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Data Drift Detection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Compare current features with reference data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Identify MODERATE / SEVERE drift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Prediction Drift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Monitor predicted probabilities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Calculate Population Stability Index (PSI)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indent="0" algn="l"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dt" idx="145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C1DFD9A-6901-4741-896E-AD2AADAF24E7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PlaceHolder 4"/>
          <p:cNvSpPr>
            <a:spLocks noGrp="1"/>
          </p:cNvSpPr>
          <p:nvPr>
            <p:ph type="ftr" idx="146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PlaceHolder 5"/>
          <p:cNvSpPr>
            <a:spLocks noGrp="1"/>
          </p:cNvSpPr>
          <p:nvPr>
            <p:ph type="sldNum" idx="147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4E9977-3164-4B0A-A16A-751863D2323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PlaceHolder 150"/>
          <p:cNvSpPr/>
          <p:nvPr/>
        </p:nvSpPr>
        <p:spPr>
          <a:xfrm>
            <a:off x="6172200" y="914400"/>
            <a:ext cx="5614920" cy="525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216000" lIns="0" tIns="0" rIns="0" bIns="0" anchor="t">
            <a:noAutofit/>
          </a:bodyPr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Performance Monitoring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AUC, False Negatives (FN), False Positives (FP)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Cost-sensitive performance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Automated Alerting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→ Trigger alert when severe drift, prediction drift, or performance degradation is detected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Schedule: Daily at 02:00 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Further Improvements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2880" cy="5547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Current Study – PD: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Estimates the Probability of Default (PD) and uses it for cost-sensitive selective credit decisions:</a:t>
            </a: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PD=P(Default∣X)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Future Work – LGD &amp; EAD: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Extend the framework by incorporating Loss Given Default (LGD) and Exposure at Default (EAD) to quantify the expected financial loss.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Expected Loss=PD×LGD×EAD​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Interpretation: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PD → How likely is default?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LGD → How much will the bank lose if default occurs?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EAD → How much is exposed when default occurs?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dt" idx="148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3D0A17A-892B-4939-928B-47EC36B0FB09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 type="ftr" idx="149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 type="sldNum" idx="150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0E8F6D-7B5F-4376-A4D3-8A0E5E602018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191880" y="90720"/>
            <a:ext cx="9155160" cy="83232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b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2600" b="1" u="none" strike="noStrike">
                <a:solidFill>
                  <a:srgbClr val="FF4000"/>
                </a:solidFill>
                <a:effectLst/>
                <a:uFillTx/>
                <a:latin typeface="SRH Headline"/>
                <a:ea typeface="SRH Headline"/>
              </a:rPr>
              <a:t>Further Improvements</a:t>
            </a:r>
            <a:endParaRPr lang="de-DE" sz="2600" b="1" u="none" strike="noStrike">
              <a:solidFill>
                <a:schemeClr val="dk1"/>
              </a:solidFill>
              <a:effectLst/>
              <a:uFillTx/>
              <a:latin typeface="SRH Headline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276840" y="1143000"/>
            <a:ext cx="10802880" cy="554760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t">
            <a:noAutofit/>
          </a:bodyPr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>
                <a:solidFill>
                  <a:srgbClr val="FF0000"/>
                </a:solidFill>
                <a:effectLst/>
                <a:uFillTx/>
                <a:latin typeface="SRH Text"/>
                <a:ea typeface="SRH Text"/>
              </a:rPr>
              <a:t>Cost-Sensitivity Analysis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Cost Ratio Sensitivity: Instead of fixing the FN cost at 2.5, evaluate different cost ratios:λ∈{1,2,2.5,5,10}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indent="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For each λ, re-optimize the selective prediction thresholds: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Compare how changing λ affects: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Optimal t1​ and t2​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Number of FN and FP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FN/FP ratio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Accuracy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  <a:p>
            <a:pPr marL="360000" lvl="1" indent="-360000" algn="l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DF4807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SRH Text"/>
                <a:ea typeface="SRH Text"/>
              </a:rPr>
              <a:t>Coverage / rejection rate </a:t>
            </a:r>
            <a:endParaRPr lang="de-DE" sz="1300" b="0" u="none" strike="noStrike">
              <a:solidFill>
                <a:schemeClr val="dk1"/>
              </a:solidFill>
              <a:effectLst/>
              <a:uFillTx/>
              <a:latin typeface="SRH Text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dt" idx="151"/>
          </p:nvPr>
        </p:nvSpPr>
        <p:spPr>
          <a:xfrm>
            <a:off x="367560" y="6356520"/>
            <a:ext cx="8715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732C273-FA95-4CEE-AED8-55695642351E}" type="datetime1">
              <a:rPr lang="en-CA" sz="90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2026-09-11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ftr" idx="152"/>
          </p:nvPr>
        </p:nvSpPr>
        <p:spPr>
          <a:xfrm>
            <a:off x="1242000" y="6366600"/>
            <a:ext cx="649332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nl-NL" sz="900" b="1" u="none" spc="-6" strike="noStrike">
                <a:solidFill>
                  <a:schemeClr val="dk1"/>
                </a:solidFill>
                <a:effectLst/>
                <a:uFillTx/>
                <a:latin typeface="Arial MT"/>
                <a:ea typeface="SRH"/>
              </a:rPr>
              <a:t>SRH Hochschule Heidelberg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 type="sldNum" idx="153"/>
          </p:nvPr>
        </p:nvSpPr>
        <p:spPr>
          <a:xfrm>
            <a:off x="11146680" y="6365160"/>
            <a:ext cx="677160" cy="362160"/>
          </a:xfrm>
          <a:prstGeom prst="rect">
            <a:avLst/>
          </a:prstGeom>
          <a:noFill/>
          <a:ln w="0">
            <a:noFill/>
          </a:ln>
        </p:spPr>
        <p:txBody>
          <a:bodyPr numCol="1" spcCol="216000" lIns="0" tIns="0" r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418B94-DCC7-47C3-A41D-4DBDD494FB55}" type="slidenum">
              <a:rPr lang="de-DE" sz="1550" b="1" u="none" strike="noStrike">
                <a:solidFill>
                  <a:srgbClr val="6D7373"/>
                </a:solidFill>
                <a:effectLst/>
                <a:uFillTx/>
                <a:latin typeface="SRH Text"/>
                <a:ea typeface="SRH"/>
              </a:rPr>
              <a:t>&lt;number&gt;</a:t>
            </a:fld>
            <a:endParaRPr lang="en-US" sz="15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7" name="Picture 10"/>
          <p:cNvPicPr/>
          <p:nvPr/>
        </p:nvPicPr>
        <p:blipFill>
          <a:blip r:embed="rId1"/>
          <a:stretch/>
        </p:blipFill>
        <p:spPr>
          <a:xfrm>
            <a:off x="101520" y="1472400"/>
            <a:ext cx="9448560" cy="173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Picture 11"/>
          <p:cNvPicPr/>
          <p:nvPr/>
        </p:nvPicPr>
        <p:blipFill>
          <a:blip r:embed="rId2"/>
          <a:stretch/>
        </p:blipFill>
        <p:spPr>
          <a:xfrm>
            <a:off x="1456200" y="2779920"/>
            <a:ext cx="7668000" cy="848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Presentation">
  <a:themeElements>
    <a:clrScheme name="Presentation 1">
      <a:dk1>
        <a:srgbClr val="575756"/>
      </a:dk1>
      <a:lt1>
        <a:srgbClr val="FFFFFF"/>
      </a:lt1>
      <a:dk2>
        <a:srgbClr val="00699A"/>
      </a:dk2>
      <a:lt2>
        <a:srgbClr val="AAA39D"/>
      </a:lt2>
      <a:accent1>
        <a:srgbClr val="DF4807"/>
      </a:accent1>
      <a:accent2>
        <a:srgbClr val="AAA39D"/>
      </a:accent2>
      <a:accent3>
        <a:srgbClr val="FCC61E"/>
      </a:accent3>
      <a:accent4>
        <a:srgbClr val="35B4A0"/>
      </a:accent4>
      <a:accent5>
        <a:srgbClr val="CA007F"/>
      </a:accent5>
      <a:accent6>
        <a:srgbClr val="021E30"/>
      </a:accent6>
      <a:hlink>
        <a:srgbClr val="000000"/>
      </a:hlink>
      <a:folHlink>
        <a:srgbClr val="000000"/>
      </a:folHlink>
    </a:clrScheme>
    <a:fontScheme name="Presentation">
      <a:majorFont>
        <a:latin typeface="SRH Headline" pitchFamily="0" charset="1"/>
        <a:ea typeface="SRH Headline" pitchFamily="0" charset="1"/>
        <a:cs typeface="SRH Headline" pitchFamily="0" charset="1"/>
      </a:majorFont>
      <a:minorFont>
        <a:latin typeface="SRH Text" pitchFamily="0" charset="1"/>
        <a:ea typeface="SRH Text" pitchFamily="0" charset="1"/>
        <a:cs typeface="SRH Text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4735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2020-06-05T16:20:53Z</dcterms:created>
  <dc:creator>Henrike Voelker</dc:creator>
  <dc:description/>
  <dc:language>en-US</dc:language>
  <cp:lastModifiedBy/>
  <dcterms:modified xsi:type="dcterms:W3CDTF">2026-09-11T22:06:30Z</dcterms:modified>
  <cp:revision>120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