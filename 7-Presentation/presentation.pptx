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media/image2.svg" ContentType="image/svg"/>
  <Override PartName="/ppt/media/image24.emf" ContentType="image/x-emf"/>
  <Override PartName="/ppt/media/image4.svg" ContentType="image/svg"/>
  <Override PartName="/ppt/media/image23.emf" ContentType="image/x-e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7772400" cy="10058400"/>
  <p:embeddedFontLst>
    <p:embeddedFont>
      <p:font typeface="SRH Text"/>
    </p:embeddedFont>
    <p:embeddedFont>
      <p:font typeface="SRH"/>
    </p:embeddedFont>
    <p:embeddedFont>
      <p:font typeface="Arial MT"/>
    </p:embeddedFont>
    <p:embeddedFont>
      <p:font typeface="SRH Headline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2 Text, 1/2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body"/>
          </p:nvPr>
        </p:nvSpPr>
        <p:spPr>
          <a:xfrm>
            <a:off x="6095880" y="0"/>
            <a:ext cx="6093360" cy="6855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4" name="Zeichen" hidden="1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360000" y="358920"/>
            <a:ext cx="536508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367560" y="1728000"/>
            <a:ext cx="536508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1319400" y="6356520"/>
            <a:ext cx="441324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7DC311-4CB1-4604-B7B2-3E11728DC73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8240" cy="73476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6240" cy="2323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4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5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6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04016C-0941-49CB-AC4A-3A6F3CA51B7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6240" cy="778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8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6240" cy="492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20" name="Rechteck 13"/>
          <p:cNvSpPr/>
          <p:nvPr/>
        </p:nvSpPr>
        <p:spPr>
          <a:xfrm>
            <a:off x="0" y="1405800"/>
            <a:ext cx="12189600" cy="544968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6160" cy="2323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7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8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9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EFB295-4DBB-411A-90A4-04DD9E01EB9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6160" cy="778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6160" cy="491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200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/3 Text, 1/3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0" name="Zeichen" hidden="1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308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88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1"/>
          </p:nvPr>
        </p:nvSpPr>
        <p:spPr>
          <a:xfrm>
            <a:off x="1319400" y="6356520"/>
            <a:ext cx="441324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2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2A38E5-20D2-4735-874D-49BDE4FA7A7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582000" cy="422784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2/3 Text, 1/3 Bild im Anschnit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8" name="Zeichen" hidden="1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308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88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3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14"/>
          </p:nvPr>
        </p:nvSpPr>
        <p:spPr>
          <a:xfrm>
            <a:off x="1319400" y="6356520"/>
            <a:ext cx="441324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15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88AD95-6932-4939-9D72-E424A0B150E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941640" cy="422784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1 Inhal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46" name="Rechteck 9"/>
          <p:cNvSpPr/>
          <p:nvPr/>
        </p:nvSpPr>
        <p:spPr>
          <a:xfrm>
            <a:off x="0" y="1405800"/>
            <a:ext cx="12189600" cy="544968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47" name="Freihandform: Form 28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6E3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624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624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16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17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29BA03-B30B-4679-8663-A8A8D1BEF94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m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4" name="Rechteck 13"/>
          <p:cNvSpPr/>
          <p:nvPr/>
        </p:nvSpPr>
        <p:spPr>
          <a:xfrm>
            <a:off x="0" y="1405800"/>
            <a:ext cx="12189600" cy="544968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2048040" y="1943640"/>
            <a:ext cx="3866040" cy="3201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19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20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21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A1712B-2F2A-4747-B097-C5D251D5FC6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body"/>
          </p:nvPr>
        </p:nvSpPr>
        <p:spPr>
          <a:xfrm>
            <a:off x="2048040" y="5212800"/>
            <a:ext cx="3866040" cy="7365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61" name="PlaceHolder 7"/>
          <p:cNvSpPr>
            <a:spLocks noGrp="1"/>
          </p:cNvSpPr>
          <p:nvPr>
            <p:ph type="body"/>
          </p:nvPr>
        </p:nvSpPr>
        <p:spPr>
          <a:xfrm>
            <a:off x="6275880" y="5212800"/>
            <a:ext cx="3866040" cy="7365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62" name="PlaceHolder 8"/>
          <p:cNvSpPr>
            <a:spLocks noGrp="1"/>
          </p:cNvSpPr>
          <p:nvPr>
            <p:ph type="body"/>
          </p:nvPr>
        </p:nvSpPr>
        <p:spPr>
          <a:xfrm>
            <a:off x="6275880" y="1943640"/>
            <a:ext cx="3866040" cy="3201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4" name="Rechteck 13"/>
          <p:cNvSpPr/>
          <p:nvPr/>
        </p:nvSpPr>
        <p:spPr>
          <a:xfrm>
            <a:off x="0" y="1405800"/>
            <a:ext cx="12189600" cy="544968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6240" cy="2323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dt" idx="22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ftr" idx="23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24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FA46AD-3A1C-4DD9-9018-0D8B6F2AC71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6240" cy="778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6240" cy="492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6160" cy="2323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dt" idx="25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ftr" idx="26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7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94E75C-1B20-46CD-A0B1-88B413B8811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6160" cy="778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6160" cy="491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80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200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Gliederun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2" name="Logo-Fragment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2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7FD1BA-AF7A-4C0F-9A0E-B965C9956CB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ftr" idx="29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dt" idx="3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6773400" y="4853880"/>
            <a:ext cx="505080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6275880" y="4853880"/>
            <a:ext cx="42372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6773400" y="4073040"/>
            <a:ext cx="50508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 type="body"/>
          </p:nvPr>
        </p:nvSpPr>
        <p:spPr>
          <a:xfrm>
            <a:off x="6275880" y="4073040"/>
            <a:ext cx="4237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0" name="PlaceHolder 8"/>
          <p:cNvSpPr>
            <a:spLocks noGrp="1"/>
          </p:cNvSpPr>
          <p:nvPr>
            <p:ph type="body"/>
          </p:nvPr>
        </p:nvSpPr>
        <p:spPr>
          <a:xfrm>
            <a:off x="6773400" y="3291120"/>
            <a:ext cx="50508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1" name="PlaceHolder 9"/>
          <p:cNvSpPr>
            <a:spLocks noGrp="1"/>
          </p:cNvSpPr>
          <p:nvPr>
            <p:ph type="body"/>
          </p:nvPr>
        </p:nvSpPr>
        <p:spPr>
          <a:xfrm>
            <a:off x="6275880" y="3291120"/>
            <a:ext cx="4237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2" name="PlaceHolder 10"/>
          <p:cNvSpPr>
            <a:spLocks noGrp="1"/>
          </p:cNvSpPr>
          <p:nvPr>
            <p:ph type="body"/>
          </p:nvPr>
        </p:nvSpPr>
        <p:spPr>
          <a:xfrm>
            <a:off x="6773400" y="2509560"/>
            <a:ext cx="50508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3" name="PlaceHolder 11"/>
          <p:cNvSpPr>
            <a:spLocks noGrp="1"/>
          </p:cNvSpPr>
          <p:nvPr>
            <p:ph type="body"/>
          </p:nvPr>
        </p:nvSpPr>
        <p:spPr>
          <a:xfrm>
            <a:off x="6275880" y="2509560"/>
            <a:ext cx="4237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4" name="PlaceHolder 12"/>
          <p:cNvSpPr>
            <a:spLocks noGrp="1"/>
          </p:cNvSpPr>
          <p:nvPr>
            <p:ph type="body"/>
          </p:nvPr>
        </p:nvSpPr>
        <p:spPr>
          <a:xfrm>
            <a:off x="6773400" y="1728000"/>
            <a:ext cx="505080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5" name="PlaceHolder 13"/>
          <p:cNvSpPr>
            <a:spLocks noGrp="1"/>
          </p:cNvSpPr>
          <p:nvPr>
            <p:ph type="body"/>
          </p:nvPr>
        </p:nvSpPr>
        <p:spPr>
          <a:xfrm>
            <a:off x="6275880" y="1728000"/>
            <a:ext cx="42372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6" name="PlaceHolder 14"/>
          <p:cNvSpPr>
            <a:spLocks noGrp="1"/>
          </p:cNvSpPr>
          <p:nvPr>
            <p:ph type="body"/>
          </p:nvPr>
        </p:nvSpPr>
        <p:spPr>
          <a:xfrm>
            <a:off x="862200" y="4853880"/>
            <a:ext cx="505152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7" name="PlaceHolder 15"/>
          <p:cNvSpPr>
            <a:spLocks noGrp="1"/>
          </p:cNvSpPr>
          <p:nvPr>
            <p:ph type="body"/>
          </p:nvPr>
        </p:nvSpPr>
        <p:spPr>
          <a:xfrm>
            <a:off x="359280" y="4853880"/>
            <a:ext cx="42300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8" name="PlaceHolder 16"/>
          <p:cNvSpPr>
            <a:spLocks noGrp="1"/>
          </p:cNvSpPr>
          <p:nvPr>
            <p:ph type="body"/>
          </p:nvPr>
        </p:nvSpPr>
        <p:spPr>
          <a:xfrm>
            <a:off x="862200" y="4073040"/>
            <a:ext cx="50515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99" name="PlaceHolder 17"/>
          <p:cNvSpPr>
            <a:spLocks noGrp="1"/>
          </p:cNvSpPr>
          <p:nvPr>
            <p:ph type="body"/>
          </p:nvPr>
        </p:nvSpPr>
        <p:spPr>
          <a:xfrm>
            <a:off x="359280" y="4073040"/>
            <a:ext cx="4230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0" name="PlaceHolder 18"/>
          <p:cNvSpPr>
            <a:spLocks noGrp="1"/>
          </p:cNvSpPr>
          <p:nvPr>
            <p:ph type="body"/>
          </p:nvPr>
        </p:nvSpPr>
        <p:spPr>
          <a:xfrm>
            <a:off x="862200" y="3291120"/>
            <a:ext cx="50515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1" name="PlaceHolder 19"/>
          <p:cNvSpPr>
            <a:spLocks noGrp="1"/>
          </p:cNvSpPr>
          <p:nvPr>
            <p:ph type="body"/>
          </p:nvPr>
        </p:nvSpPr>
        <p:spPr>
          <a:xfrm>
            <a:off x="359280" y="3291120"/>
            <a:ext cx="4230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03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2" name="PlaceHolder 20"/>
          <p:cNvSpPr>
            <a:spLocks noGrp="1"/>
          </p:cNvSpPr>
          <p:nvPr>
            <p:ph type="body"/>
          </p:nvPr>
        </p:nvSpPr>
        <p:spPr>
          <a:xfrm>
            <a:off x="862200" y="2509560"/>
            <a:ext cx="505152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3" name="PlaceHolder 21"/>
          <p:cNvSpPr>
            <a:spLocks noGrp="1"/>
          </p:cNvSpPr>
          <p:nvPr>
            <p:ph type="body"/>
          </p:nvPr>
        </p:nvSpPr>
        <p:spPr>
          <a:xfrm>
            <a:off x="359280" y="2509560"/>
            <a:ext cx="42300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02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4" name="PlaceHolder 22"/>
          <p:cNvSpPr>
            <a:spLocks noGrp="1"/>
          </p:cNvSpPr>
          <p:nvPr>
            <p:ph type="body"/>
          </p:nvPr>
        </p:nvSpPr>
        <p:spPr>
          <a:xfrm>
            <a:off x="862200" y="1728000"/>
            <a:ext cx="505152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5" name="PlaceHolder 23"/>
          <p:cNvSpPr>
            <a:spLocks noGrp="1"/>
          </p:cNvSpPr>
          <p:nvPr>
            <p:ph type="body"/>
          </p:nvPr>
        </p:nvSpPr>
        <p:spPr>
          <a:xfrm>
            <a:off x="359280" y="1728000"/>
            <a:ext cx="423000" cy="6984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01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06" name="PlaceHolder 24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Gliederung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08" name="Logo-Fragment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6240" cy="4227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dt" idx="3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ftr" idx="32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sldNum" idx="3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FA1DC5-63BB-411C-8981-EAC3E994A14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600" cy="6855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9080" cy="3015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600" cy="550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 type="body"/>
          </p:nvPr>
        </p:nvSpPr>
        <p:spPr>
          <a:xfrm>
            <a:off x="630000" y="457920"/>
            <a:ext cx="946080" cy="73152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80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dt" idx="34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ftr" idx="35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sldNum" idx="36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44BF36-9589-4E67-81B7-D9506124000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5" name="PlaceHolder 1"/>
          <p:cNvSpPr>
            <a:spLocks noGrp="1"/>
          </p:cNvSpPr>
          <p:nvPr>
            <p:ph type="dt" idx="37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38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39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002708-7997-4822-B5ED-13528BA3B1A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9" name="Freihandform: Form 10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0" name="Textfeld 11"/>
          <p:cNvSpPr/>
          <p:nvPr/>
        </p:nvSpPr>
        <p:spPr>
          <a:xfrm>
            <a:off x="360000" y="1891800"/>
            <a:ext cx="7453080" cy="20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Vielen Dank für Ihre </a:t>
            </a:r>
            <a:br>
              <a:rPr sz="1800"/>
            </a:b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520" cy="1269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3" name="Textfeld 11"/>
          <p:cNvSpPr/>
          <p:nvPr/>
        </p:nvSpPr>
        <p:spPr>
          <a:xfrm>
            <a:off x="360000" y="1891800"/>
            <a:ext cx="7453080" cy="20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Vielen Dank für deine</a:t>
            </a:r>
            <a:br>
              <a:rPr sz="1800"/>
            </a:b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520" cy="12686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135" name="Freihandform: Form 5"/>
          <p:cNvSpPr/>
          <p:nvPr/>
        </p:nvSpPr>
        <p:spPr>
          <a:xfrm>
            <a:off x="8211960" y="2802240"/>
            <a:ext cx="3987360" cy="4053240"/>
          </a:xfrm>
          <a:custGeom>
            <a:avLst/>
            <a:gdLst>
              <a:gd name="textAreaLeft" fmla="*/ 0 w 3987360"/>
              <a:gd name="textAreaRight" fmla="*/ 1436293800 w 398736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72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pic>
        <p:nvPicPr>
          <p:cNvPr id="136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8240" cy="734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Farb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600" cy="6855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9080" cy="3015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600" cy="550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2" name="Freihandform: Form 10"/>
          <p:cNvSpPr/>
          <p:nvPr/>
        </p:nvSpPr>
        <p:spPr>
          <a:xfrm>
            <a:off x="8211960" y="2802240"/>
            <a:ext cx="3987360" cy="4053240"/>
          </a:xfrm>
          <a:custGeom>
            <a:avLst/>
            <a:gdLst>
              <a:gd name="textAreaLeft" fmla="*/ 0 w 3987360"/>
              <a:gd name="textAreaRight" fmla="*/ 1436293800 w 398736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72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680" cy="3978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dt" idx="4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ftr" idx="41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sldNum" idx="42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D718AC-4F8D-495E-B677-3C8AB0D3F1C2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7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8240" cy="734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mit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600" cy="6855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title"/>
          </p:nvPr>
        </p:nvSpPr>
        <p:spPr>
          <a:xfrm>
            <a:off x="360000" y="616680"/>
            <a:ext cx="7640280" cy="2514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360000" y="3124800"/>
            <a:ext cx="7640280" cy="2514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Mastertextformat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dt" idx="43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ftr" idx="44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 type="sldNum" idx="45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95A74F-A82D-42D9-AA27-153E503205B8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8240" cy="73476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arm grey">
    <p:bg>
      <p:bgPr>
        <a:solidFill>
          <a:srgbClr val="DDD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7" name="Freihandform: Form 10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chemeClr val="lt1">
              <a:alpha val="2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880" cy="1403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x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680" cy="262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dt" idx="46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ftr" idx="47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sldNum" idx="4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73A8EF-C27C-4E71-8FEE-7219562118D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farbi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reihandform: Form 11" hidden="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880" cy="1403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680" cy="262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49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ftr" idx="50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sldNum" idx="51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39756C-DC6B-4336-B213-D5254AD4A18D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69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8240" cy="73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Freihandform: Form 8"/>
          <p:cNvSpPr/>
          <p:nvPr/>
        </p:nvSpPr>
        <p:spPr>
          <a:xfrm>
            <a:off x="8211960" y="2802240"/>
            <a:ext cx="3987360" cy="4053240"/>
          </a:xfrm>
          <a:custGeom>
            <a:avLst/>
            <a:gdLst>
              <a:gd name="textAreaLeft" fmla="*/ 0 w 3987360"/>
              <a:gd name="textAreaRight" fmla="*/ 1436293800 w 398736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72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72" name="Freihandform: Form 10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880" cy="1403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680" cy="262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52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53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4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962FB4-8F31-4E0E-8A5F-2458C755E1C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Freihandform: Form 11"/>
          <p:cNvSpPr/>
          <p:nvPr/>
        </p:nvSpPr>
        <p:spPr>
          <a:xfrm>
            <a:off x="10878840" y="361440"/>
            <a:ext cx="945360" cy="730800"/>
          </a:xfrm>
          <a:custGeom>
            <a:avLst/>
            <a:gdLst>
              <a:gd name="textAreaLeft" fmla="*/ 0 w 945360"/>
              <a:gd name="textAreaRight" fmla="*/ 341299800 w 945360"/>
              <a:gd name="textAreaTop" fmla="*/ 0 h 730800"/>
              <a:gd name="textAreaBottom" fmla="*/ 264033000 h 73080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72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79" name="Freihandform: Form 10"/>
          <p:cNvSpPr/>
          <p:nvPr/>
        </p:nvSpPr>
        <p:spPr>
          <a:xfrm>
            <a:off x="8202960" y="2802240"/>
            <a:ext cx="3986640" cy="4053240"/>
          </a:xfrm>
          <a:custGeom>
            <a:avLst/>
            <a:gdLst>
              <a:gd name="textAreaLeft" fmla="*/ 0 w 3986640"/>
              <a:gd name="textAreaRight" fmla="*/ 1436065200 w 3986640"/>
              <a:gd name="textAreaTop" fmla="*/ 0 h 4053240"/>
              <a:gd name="textAreaBottom" fmla="*/ 1460068200 h 405324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00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680" cy="3978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dt" idx="55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ftr" idx="56"/>
          </p:nvPr>
        </p:nvSpPr>
        <p:spPr>
          <a:xfrm>
            <a:off x="1319400" y="635652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sldNum" idx="57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7682E1-BA47-42DC-B705-223E758C55F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3.emf"/><Relationship Id="rId2" Type="http://schemas.openxmlformats.org/officeDocument/2006/relationships/image" Target="../media/image24.emf"/><Relationship Id="rId3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299880" y="1143000"/>
            <a:ext cx="11253960" cy="1702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ctr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 Reliability-Aware Decision Framework for Cost-Sensitive Selective Prediction in Credit Risk under Distribution Shift </a:t>
            </a:r>
            <a:br>
              <a:rPr sz="4000"/>
            </a:b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85" name="object 12"/>
          <p:cNvSpPr/>
          <p:nvPr/>
        </p:nvSpPr>
        <p:spPr>
          <a:xfrm rot="21561000">
            <a:off x="448560" y="4151160"/>
            <a:ext cx="6417720" cy="20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12600" rIns="0" bIns="0" anchor="t">
            <a:noAutofit/>
          </a:bodyPr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Amin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RH"/>
                <a:ea typeface="SRH"/>
              </a:rPr>
              <a:t>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Feli (11038701)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Supervisor: Prof . Dr. Mehrdad Jalali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SRH Hochschule Heidelberg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50000"/>
              </a:lnSpc>
              <a:spcBef>
                <a:spcPts val="3345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dt" idx="58"/>
          </p:nvPr>
        </p:nvSpPr>
        <p:spPr>
          <a:xfrm>
            <a:off x="172080" y="6231960"/>
            <a:ext cx="87264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BE5C08-76A9-4A0A-9FA8-0AD584EFACDF}" type="datetime1"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59"/>
          </p:nvPr>
        </p:nvSpPr>
        <p:spPr>
          <a:xfrm>
            <a:off x="1133640" y="6285240"/>
            <a:ext cx="649296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SRH Hochschule Heidelberg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60"/>
          </p:nvPr>
        </p:nvSpPr>
        <p:spPr>
          <a:xfrm>
            <a:off x="11058480" y="6311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64BB6-2323-4C1E-97C3-ADA3AE075233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Introduction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276840" y="914400"/>
            <a:ext cx="10803240" cy="5703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What is Credit Risk?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risk is a fundamental task in finance and banking, designed to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estimate the likelihood that a borrower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will default on a loan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or fail to meet contractual debt obligations.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Why is Credit Risk Prediction Important?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Banks make decisions based on information about applicants, such as their occupation_status , credit history, and credit_score .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Machine Learning (ML) models can learn patterns from historical data and estimate the probability that an applicant will default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. refine it in the simple way.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Accurate credit risk prediction helps banks to: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Reduce losses from unpaid loans.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Make better lending decisions.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Manage money and capital more efficiently.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dt" idx="6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3606868-89E7-42F1-845D-AE326953046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ftr" idx="62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sldNum" idx="6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DE832C-EB4E-47D5-B3ED-9CECBBCF541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520" cy="6102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Problem Statement: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276840" y="741600"/>
            <a:ext cx="11609640" cy="5949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Static decision thresholds: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Most traditional credit risk models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rely on a fixed decision threshold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commonly 0.5, which does not adequately reflect the changing financial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trade-offs between false positives and false negatives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This can lead to suboptimal lending decisions under different risk and cost conditions.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Fixed cost-sensitive learning: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Although cost-sensitive learning is widely used to account for the unequal consequences of classification errors,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penalty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structures are generally predefined and fixed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They therefore lack the flexibility to adapt to changing business constraints, operational conditions, and risk preferences.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selective prediction: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Conventional credit risk models typically provide deterministic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binary predictions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without explicitly quantifying prediction uncertainty. Consequently, they may automatically make decisions for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ambiguous cases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where the model is insufficiently confident and human intervention would be more appropriate.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distribution shift: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Most credit risk models are developed and evaluated under the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assumption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that the underlying data distribution remains relatively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stable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In real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banking environments, however,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economic conditions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customer behavior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and credit patterns continuously change, resulting in data distribution shifts that can reduce model performance and reliability over time.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continuous reliability monitoring: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Existing approaches often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evaluate model performance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periodically rather than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continuously after deployment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dt" idx="64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F8F7D8D-5148-49D4-A7CF-6F1A7E991B7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ftr" idx="65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sldNum" idx="66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7E69A8-C238-426F-B0FE-6A595D37277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Table of Content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276840" y="987480"/>
            <a:ext cx="10803240" cy="5703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Introduction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Problem Statement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Methodology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Data Preprocessing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Exploratory Data Analysis (EDA)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Explainability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Selective Prediction / Risk-Based Decision System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Monitoring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Results &amp; Key Findings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67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B1EB5DE-2E17-4026-AD6D-2F369D4DDD3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ftr" idx="68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sldNum" idx="69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BD143B-EADF-47DB-8147-2585D09DDAC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Dataset &amp; Data Description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3240" cy="55479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indent="0" algn="just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Dataset Overview 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This dataset contains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50,000 loan application records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with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20 features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describing applicants' demographic characteristics, employment and financial status, credit history, and loan information. It is designed for credit risk assessment and loan outcome prediction using machine learning methods.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includes information such as age, occupation status, employment history, annual income, credit score, savings, debt, previous defaults, delinquencies, loan amount, interest rate, and several financial ratios.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also contains categorical variables describing the applicant's employment status, product type, and loan intent, together with numerical variables representing the applicant's financial and credit characteristics.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target variable,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loan_status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, represents the loan outcome: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0 = Rejected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1 = Approved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7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7EAC23A-5645-41C9-B95E-FA8739A4517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ftr" idx="71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sldNum" idx="72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A4D1BB-21F6-49EA-9FD7-DCB4B4520FF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Processing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324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Checking Corrupted Rows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purpose of this step was to identify invalid, corrupted, or logically inconsistent records before applying machine learning models.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code performed the following validation processes: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Range Validation: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Checked realistic ranges for age, credit score, employment, and credit history.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Negative Values: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Detected invalid negative values in financial and credit variables.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Ratio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Verified Debt-to-Income Ratio, Loan-to-Income Ratio, and payment-to-income ratios.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Text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Used Regex to identify malformed categorical values and validated loan_status.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dt" idx="73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9486116-C621-4D15-95B8-8E783CD68E5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ftr" idx="74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sldNum" idx="75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6EF2C9-3094-44D6-BF25-49FD930F616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228600" y="457200"/>
            <a:ext cx="10803240" cy="5942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Type Standardization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Ensured all key numerical variables use consistent data types.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Missing Value Analysis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missing values that could affect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Categorical Data Consistency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Examined categorical variables for inconsistent labels.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potential duplicates such as “Male” and “male.”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Duplicate Records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was checked for duplicated observations.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dt" idx="76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FFBB1D-497C-427B-918D-476A1E6ABD2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ftr" idx="77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5"/>
          <p:cNvSpPr>
            <a:spLocks noGrp="1"/>
          </p:cNvSpPr>
          <p:nvPr>
            <p:ph type="sldNum" idx="7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D23299-2964-4AD7-9A53-4F77EEF58FD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icture 1"/>
          <p:cNvPicPr/>
          <p:nvPr/>
        </p:nvPicPr>
        <p:blipFill>
          <a:blip r:embed="rId1"/>
          <a:stretch/>
        </p:blipFill>
        <p:spPr>
          <a:xfrm>
            <a:off x="1706760" y="1076760"/>
            <a:ext cx="8569440" cy="517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Exploratory Data Analysis (EDA)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7080" cy="5703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Statistical Overview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study uses a real-world dataset containing loan application records. This includes: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👤 Applicant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Age: 18–70 years, with a mean of 35.0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0–39.9 years, with a mean of 7.45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€15,000–€250,000, with a mean of approximately €50,063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Credit score: 348–850, with a mean of 643.6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dt" idx="79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987AC43-0F7B-411D-8253-7671C3BC7FA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ftr" idx="80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sldNum" idx="81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3C616-7A1C-470D-8AE5-89F44FEA08E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151"/>
          <p:cNvSpPr/>
          <p:nvPr/>
        </p:nvSpPr>
        <p:spPr>
          <a:xfrm>
            <a:off x="6348960" y="1272960"/>
            <a:ext cx="5257080" cy="53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Key features: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Numerical: income, debt-to-income ratio, credit history length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Categorical: job type, education, residence status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Derived: risk score, monthly debt obligations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Outlier Analysis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10803240" cy="5703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Most variables contained normal-range observations with some outliers.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highest number of </a:t>
            </a: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was found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6,508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2,932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2,355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1,373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Extreme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were mainly observed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4,353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859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515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 extreme outliers were detected in age, credit score, loan amount, interest rate, or the ratio variables.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dt" idx="82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826FD0F-F6B3-4A10-9F56-0E26B0CDEF68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ftr" idx="83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sldNum" idx="84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426964-4A5C-442F-9190-5C3665E480D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1" name=""/>
          <p:cNvPicPr/>
          <p:nvPr/>
        </p:nvPicPr>
        <p:blipFill>
          <a:blip r:embed="rId1"/>
          <a:stretch/>
        </p:blipFill>
        <p:spPr>
          <a:xfrm>
            <a:off x="4800600" y="1828800"/>
            <a:ext cx="7038000" cy="434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324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Transformation Strategy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Highly Skewed Features → Log Transformation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Compresses extreme values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Reduces right-skewness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Produces more stable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Continuous Features → StandardScaler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Centers features around zero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Normalizes the scale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Prevents large-scale variables from dominating model training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dt" idx="85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B7C1585-1222-474B-99BC-0D2152C9FE6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 type="ftr" idx="86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sldNum" idx="87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1DE7D7-31E2-4802-90B4-7FE3ADEEB43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7" name=""/>
          <p:cNvPicPr/>
          <p:nvPr/>
        </p:nvPicPr>
        <p:blipFill>
          <a:blip r:embed="rId1"/>
          <a:stretch/>
        </p:blipFill>
        <p:spPr>
          <a:xfrm>
            <a:off x="5832720" y="1371600"/>
            <a:ext cx="5367960" cy="457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6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Effect of Log Transformation on Skewness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dt" idx="88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7F504AB-E0FF-42DB-AFCE-5568D83368EB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ftr" idx="89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sldNum" idx="90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E4F80E-AC96-483D-B877-7197E31017F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3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8673120" cy="256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324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Spearman rank correlation (ρ) was used to examine relationships between the engineered numerical features and the target variable.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Important Feature Relationships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Some predictors also show relatively strong correlations with each other: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↔ Payment-to-Income: ρ = 0.815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 Amount ↔ Loan-to-Income: ρ = 0.755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Current Debt ↔ Debt-to-Income: ρ = 0.716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Age ↔ Credit History: ρ = 0.664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Annual Income ↔ Current Debt: ρ = 0.657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9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6B12CBF-0211-4303-B983-5907A5BD856B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ftr" idx="92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sldNum" idx="9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2CEA57-F96D-41E6-B711-F64CC735309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"/>
          <p:cNvPicPr/>
          <p:nvPr/>
        </p:nvPicPr>
        <p:blipFill>
          <a:blip r:embed="rId1"/>
          <a:stretch/>
        </p:blipFill>
        <p:spPr>
          <a:xfrm>
            <a:off x="6071400" y="1600200"/>
            <a:ext cx="6075360" cy="476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600200" y="914400"/>
            <a:ext cx="8457480" cy="570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PlaceHolder 2"/>
          <p:cNvSpPr>
            <a:spLocks noGrp="1"/>
          </p:cNvSpPr>
          <p:nvPr>
            <p:ph type="dt" idx="94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B57DDAE-A383-423E-96CC-12D298175602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ftr" idx="95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sldNum" idx="96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91C866-6193-47C2-9402-84DDB5106E5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Feature Importance</a:t>
            </a: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— XGBoost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479988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XGBoost was used to identify the most influential features for credit-risk prediction.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important features were: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22.8%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14.9%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14.2%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No features had importance below 0.02,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 no feature was removed based on this criterion.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dt" idx="97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FA49761-2F68-49BB-86D5-B560BCDADF0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 type="ftr" idx="98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 type="sldNum" idx="99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22BBAE-41D2-4D25-B3FF-6A253F008D5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0" name=""/>
          <p:cNvPicPr/>
          <p:nvPr/>
        </p:nvPicPr>
        <p:blipFill>
          <a:blip r:embed="rId1"/>
          <a:stretch/>
        </p:blipFill>
        <p:spPr>
          <a:xfrm>
            <a:off x="4755240" y="1600200"/>
            <a:ext cx="7169400" cy="38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Feature Importance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51488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 method to measure the importance of each feature in a machine learning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Idea: Randomly shuffle a feature’s values and see how the model performance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How it works: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Train the model on the data and calculate </a:t>
            </a: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baseline performance</a:t>
            </a: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(e.g., accuracy, R²).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feature: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Shuffle its values randomly.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Re-evaluate the 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performance: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Big drop in performance → feature is very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Little or no change → feature is less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dt" idx="10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421A206-448D-44A9-814A-8FD4AA63759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ftr" idx="101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sldNum" idx="102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721FAF-C039-4531-85DE-303E147B979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Importance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6171480" cy="5485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Permutation importance was used to measure the actual impact of each feature on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0.177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0.112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0.033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Features such as annual income and savings assets showed almost no impact.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Negative or near-zero importance indicates that shuffling these features did not improve or slightly improved—model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dt" idx="103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88011D-7B25-4409-B1E5-3E15EF2CAF58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ftr" idx="104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sldNum" idx="105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B820E2-8A16-450F-BDF8-4A9C68DA773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1" name=""/>
          <p:cNvPicPr/>
          <p:nvPr/>
        </p:nvPicPr>
        <p:blipFill>
          <a:blip r:embed="rId1"/>
          <a:stretch/>
        </p:blipFill>
        <p:spPr>
          <a:xfrm>
            <a:off x="6406920" y="2044800"/>
            <a:ext cx="5412960" cy="274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SHAP-Based Feature Importance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6171480" cy="5703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SHAP was used to measure how strongly each feature contributes to the model's predictions.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1.477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1.294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history: 0.676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0.566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0.557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Savings assets, payment-to-income ratio, and current debt had relatively low contributions.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Based on the SHAP results, low-impact features were considered for removal to simplify the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06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CA8EE12-C707-4BAF-AFC1-659DACF435A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107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10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F8B464-3EC5-4F16-99C2-BA756926F15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086600" y="914400"/>
            <a:ext cx="4403520" cy="548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Related Articles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79" name=""/>
          <p:cNvPicPr/>
          <p:nvPr/>
        </p:nvPicPr>
        <p:blipFill>
          <a:blip r:embed="rId1"/>
          <a:stretch/>
        </p:blipFill>
        <p:spPr>
          <a:xfrm>
            <a:off x="2971800" y="3344400"/>
            <a:ext cx="5486040" cy="32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PlaceHolder 2"/>
          <p:cNvSpPr>
            <a:spLocks noGrp="1"/>
          </p:cNvSpPr>
          <p:nvPr>
            <p:ph type="dt" idx="109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6E9879D-A03D-4576-8AB8-A2F1A878E77B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ftr" idx="110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 type="sldNum" idx="111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B7D136-64AE-40C8-A325-2D57C2E4099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3" name=""/>
          <p:cNvPicPr/>
          <p:nvPr/>
        </p:nvPicPr>
        <p:blipFill>
          <a:blip r:embed="rId2"/>
          <a:stretch/>
        </p:blipFill>
        <p:spPr>
          <a:xfrm>
            <a:off x="3200400" y="829800"/>
            <a:ext cx="5486040" cy="242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191880" y="228600"/>
            <a:ext cx="9155520" cy="6854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1800"/>
            </a:br>
            <a:r>
              <a:rPr lang="de-DE" sz="18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Machine Learning Model Development &amp; Cost-Sensitive Optimization</a:t>
            </a:r>
            <a:br>
              <a:rPr sz="1800"/>
            </a:b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680" cy="6857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Algorithm: XGBoost (Extreme Gradient Boosting)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Data Split: </a:t>
            </a: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80% Training | 10% Validation | 10% Test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Class Imbalance: Class weights applied during training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Hyperparameter Optimization: Grid Search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n_estimators: [200, 300, 400, 500,600,700]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learning_rate: [0.03, 0.05, 0.07, 0.1 ,0.2, 0.3]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max_depth: [3, 4, 5, 6,7,8]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min_child_weight: [1, 3, 5, 7, 9]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Total: 256 XGBoost configurations evaluated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112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A4E7DA-0C48-467D-8243-A57964151FF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ftr" idx="113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sldNum" idx="114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3C0DA5-FD4B-4DD5-89DD-4FA09705A3B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91880" y="538560"/>
            <a:ext cx="9155520" cy="604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</a:t>
            </a: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  Class Imbalance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228600" y="1333800"/>
            <a:ext cx="10803240" cy="5066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distribution of the target variable was examined to determine whether the dataset contains a significant class imbalance and whether imbalance-handling techniques are required.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dt" idx="115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EE9353C-23E5-4369-925D-2BBA2743094A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4"/>
          <p:cNvSpPr>
            <a:spLocks noGrp="1"/>
          </p:cNvSpPr>
          <p:nvPr>
            <p:ph type="ftr" idx="116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PlaceHolder 5"/>
          <p:cNvSpPr>
            <a:spLocks noGrp="1"/>
          </p:cNvSpPr>
          <p:nvPr>
            <p:ph type="sldNum" idx="117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CD7DED-6FBC-42E7-8088-291A88DE491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4" name=""/>
          <p:cNvPicPr/>
          <p:nvPr/>
        </p:nvPicPr>
        <p:blipFill>
          <a:blip r:embed="rId1"/>
          <a:stretch/>
        </p:blipFill>
        <p:spPr>
          <a:xfrm>
            <a:off x="8229960" y="1600560"/>
            <a:ext cx="2971440" cy="457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"/>
          <p:cNvPicPr/>
          <p:nvPr/>
        </p:nvPicPr>
        <p:blipFill>
          <a:blip r:embed="rId2"/>
          <a:stretch/>
        </p:blipFill>
        <p:spPr>
          <a:xfrm>
            <a:off x="99720" y="2020320"/>
            <a:ext cx="6758280" cy="23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4571280" cy="5475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Find optimal threshold: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Standard approach → Fixed threshold = 0.50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Proposed approach → Optimize the decision threshold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Tested thresholds: (0.15, 0.6, 0.01)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Business cost function: prioritize low FN, penalize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Cost = 2.5 × FN + FP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p(default)&lt; 0.50-→ Approved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p(default)&gt; 0.50-→ Rejected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dt" idx="118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3872AED-AE28-4D4D-8106-62454C0F64D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ftr" idx="119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sldNum" idx="120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21F6D-0F55-44AF-AFC6-88CFCD5F1C3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1" name=""/>
          <p:cNvPicPr/>
          <p:nvPr/>
        </p:nvPicPr>
        <p:blipFill>
          <a:blip r:embed="rId1"/>
          <a:stretch/>
        </p:blipFill>
        <p:spPr>
          <a:xfrm>
            <a:off x="8458200" y="1334160"/>
            <a:ext cx="3016440" cy="346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PlaceHolder 6"/>
          <p:cNvSpPr/>
          <p:nvPr/>
        </p:nvSpPr>
        <p:spPr>
          <a:xfrm>
            <a:off x="4764960" y="624960"/>
            <a:ext cx="3464280" cy="48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Each model was evaluated using: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 (FN)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 (FP)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Error balance:FP/FN Ratio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Minimum Business Cost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304" name=""/>
          <p:cNvPicPr/>
          <p:nvPr/>
        </p:nvPicPr>
        <p:blipFill>
          <a:blip r:embed="rId1"/>
          <a:stretch/>
        </p:blipFill>
        <p:spPr>
          <a:xfrm>
            <a:off x="1618200" y="696240"/>
            <a:ext cx="7525080" cy="550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2"/>
          <p:cNvSpPr>
            <a:spLocks noGrp="1"/>
          </p:cNvSpPr>
          <p:nvPr>
            <p:ph type="dt" idx="12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91DFAF-D102-45E6-8BF1-EA2C8A11ECE4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ftr" idx="122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 type="sldNum" idx="12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EC1806-A168-4519-9C7B-ED74E16AA44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228600" y="912600"/>
            <a:ext cx="5714640" cy="5187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Objective: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Interpret how the XGBoost model makes credit-risk predictions and identify the features that drive its decisions.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Framework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TreeExplainer applied to the final XGBoost model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2,000 test observations analyzed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Global feature importance based on mean |SHAP value|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dependence plots used to examine feature effects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dt" idx="124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C59740F-3F64-4892-9378-69EB7BD00AE8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ftr" idx="125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PlaceHolder 5"/>
          <p:cNvSpPr>
            <a:spLocks noGrp="1"/>
          </p:cNvSpPr>
          <p:nvPr>
            <p:ph type="sldNum" idx="126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33259F-DD87-4BE5-A29A-49C3E194840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7"/>
          <p:cNvSpPr/>
          <p:nvPr/>
        </p:nvSpPr>
        <p:spPr>
          <a:xfrm>
            <a:off x="5988960" y="912600"/>
            <a:ext cx="4983480" cy="54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Key Findings: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Score: 19.42% of total SHAP importance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Debt-to-Income Ratio: 15.95%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History: 9.65%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Loan-to-Income Ratio: 8.42%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Education Loan Intent: 8.15%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228600" y="1371600"/>
            <a:ext cx="4800240" cy="4800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10 features: 84.39%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20 features: 98.83%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dt" idx="127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C0DE64-80EF-4AEF-84D8-2BFC3C81E09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 type="ftr" idx="128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 type="sldNum" idx="129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44374E-8FC4-4BF5-A0CC-4E6F6D6BFB4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9" name=""/>
          <p:cNvPicPr/>
          <p:nvPr/>
        </p:nvPicPr>
        <p:blipFill>
          <a:blip r:embed="rId1"/>
          <a:stretch/>
        </p:blipFill>
        <p:spPr>
          <a:xfrm>
            <a:off x="5729400" y="1009800"/>
            <a:ext cx="4942080" cy="571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Selective Prediction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680" cy="5814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Traditional classification forces an automatic decision for every applicant.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My approach: allow the model to abstain from uncertain cases and refer them to human loan officers.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Two-Threshold Decision Policy: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&lt; thresholds t₁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AUTO APPROVE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 (  low-risk  )                                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t₁ — Automatic Approval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                ↓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thresholds t₁ ≤ Probability of Default ≤ thresholds t₂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MANUAL REVIEW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uncertain )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t₁ ≤ p ≤ t₂ — Manual Review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                ↓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&gt; thresholds t₂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AUTO REJECT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high-risk  )                                    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t₂ — Automatic Rejection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thresholds t₁ and t₂ were jointly optimized with the XGBoost hyperparameters using grid search and a business-cost function.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dt" idx="130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077545-E466-4494-92D2-1071E02A1524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ftr" idx="131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sldNum" idx="132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9DFCC4-DEB5-4F33-A6D9-AC7E3BF164C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3656880" cy="5246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Test-Set Decision Distribution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Accept: 1,780 (35.60%)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Reject: 2,604 (52.08%)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Manual Review: 616 (12.32%)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133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0130F1-49DE-4253-A6EB-03AE96CD57FB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ftr" idx="134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sldNum" idx="135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FDB3F-44B2-47A7-90BA-63AF1313F4E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/>
          <p:cNvPicPr/>
          <p:nvPr/>
        </p:nvPicPr>
        <p:blipFill>
          <a:blip r:embed="rId1"/>
          <a:stretch/>
        </p:blipFill>
        <p:spPr>
          <a:xfrm>
            <a:off x="4212000" y="1143000"/>
            <a:ext cx="6988680" cy="525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dt" idx="136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6966B62-F81E-43C1-9341-B19F39A80A3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ftr" idx="137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PlaceHolder 4"/>
          <p:cNvSpPr>
            <a:spLocks noGrp="1"/>
          </p:cNvSpPr>
          <p:nvPr>
            <p:ph type="sldNum" idx="138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196EF1-D7EF-4040-9D6E-5EF3FFB2AA0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5" name=""/>
          <p:cNvPicPr/>
          <p:nvPr/>
        </p:nvPicPr>
        <p:blipFill>
          <a:blip r:embed="rId1"/>
          <a:stretch/>
        </p:blipFill>
        <p:spPr>
          <a:xfrm>
            <a:off x="479520" y="1242360"/>
            <a:ext cx="10721160" cy="4471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7080" cy="603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Ensure that the credit-risk model remains reliable after deployment when customer populations and data distributions change.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Automated 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1. DATA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customer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→ measures changes in feature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Interpretation: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&lt; 0.1 : No significant change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0.1 ≤ PSI &lt; 0.2 : Moderate change (monitor)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≥ 0.2 : Significant change (investigate/retrain)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≥ 0.3 : Severe drift (immediate action required)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dt" idx="139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BD11955-05B8-422A-9913-AA24F76C685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ftr" idx="140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sldNum" idx="141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7BAE36-D56C-419F-8149-E60A741E04B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114"/>
          <p:cNvSpPr/>
          <p:nvPr/>
        </p:nvSpPr>
        <p:spPr>
          <a:xfrm>
            <a:off x="6172200" y="685800"/>
            <a:ext cx="5257080" cy="603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Test → compares reference and new distributions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Interpretation: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&lt; 0.05 : No significant difference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0.05 ≤ KS &lt; 0.1 : Moderate difference (monitor)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KS ≥ 0.1 : Significant difference (investigate)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2. PREDICTION / MODEL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model behavior and performance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Accuracy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714640" cy="545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3. RELIABILITY ACTION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Detect degradation → Generate alert → Investigate / Retrain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Drift Classification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Stable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Moderate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Significant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dt" idx="142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D9BA54-9F55-42BD-8DDF-4CD53C2D6EE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 type="ftr" idx="143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PlaceHolder 5"/>
          <p:cNvSpPr>
            <a:spLocks noGrp="1"/>
          </p:cNvSpPr>
          <p:nvPr>
            <p:ph type="sldNum" idx="144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E03B93-41C6-41AD-87C1-C82D53640AA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PlaceHolder 152"/>
          <p:cNvSpPr/>
          <p:nvPr/>
        </p:nvSpPr>
        <p:spPr>
          <a:xfrm>
            <a:off x="6168960" y="914400"/>
            <a:ext cx="594612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Reference Population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validation dataset was used as the baseline because it represents unseen customers.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Key Contribution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model is not treated as a static predictor.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Reliability is continuously monitored under distribution shift.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Nightly Automated Model Monitoring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942880" cy="545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Purpose: Continuously monitor the deployed credit-risk model for data and prediction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Collect new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Latest scored loan applications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Data Drift Detection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Compare current features with reference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Identify MODERATE / SEVERE drift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Prediction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Monitor predicted probabilities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Calculate Population Stability Index (PSI)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dt" idx="145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E8F48EB-B898-421A-9B47-ACC609246902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 type="ftr" idx="146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PlaceHolder 5"/>
          <p:cNvSpPr>
            <a:spLocks noGrp="1"/>
          </p:cNvSpPr>
          <p:nvPr>
            <p:ph type="sldNum" idx="147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205437-DA3E-4342-BC8A-B4E9C1CCE5D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PlaceHolder 150"/>
          <p:cNvSpPr/>
          <p:nvPr/>
        </p:nvSpPr>
        <p:spPr>
          <a:xfrm>
            <a:off x="6172200" y="914400"/>
            <a:ext cx="5615280" cy="52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Performance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AUC, False Negatives (FN), False Positives (FP)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Cost-sensitive performance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Automated Alerting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Trigger alert when severe drift, prediction drift, or performance degradation is detected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Schedule: Daily at 02:00 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Further Improvements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3240" cy="55479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Current Study – PD: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Estimates the Probability of Default (PD) and uses it for cost-sensitive selective credit decisions:</a:t>
            </a: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PD=P(Default∣X)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Future Work – LGD &amp; EAD: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Extend the framework by incorporating Loss Given Default (LGD) and Exposure at Default (EAD) to quantify the expected financial loss.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Expected Loss=PD×LGD×EAD​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Interpretation: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PD → How likely is default?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LGD → How much will the bank lose if default occurs?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EAD → How much is exposed when default occurs?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dt" idx="148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F535892-DE18-498D-8638-F4126D7099D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ftr" idx="149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 type="sldNum" idx="150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65D64A-04EB-4AA2-A112-7BE0F385A7B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520" cy="832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Further Improvements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3240" cy="55479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>
                <a:solidFill>
                  <a:srgbClr val="FF0000"/>
                </a:solidFill>
                <a:effectLst/>
                <a:uFillTx/>
                <a:latin typeface="SRH Text"/>
                <a:ea typeface="SRH Text"/>
              </a:rPr>
              <a:t>Cost-Sensitivity Analysis</a:t>
            </a:r>
            <a:endParaRPr lang="de-DE" sz="1400" b="1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Cost Ratio Sensitivity: Instead of fixing the FN cost at 2.5, evaluate different cost ratios:</a:t>
            </a: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λ∈{1,2,2.5,5,10}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λ, re-optimize the selective prediction thresholds: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how changing λ affects: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Optimal t1​ and t2​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Number of FN and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FN/FP ratio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Accuracy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Coverage / rejection rate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dt" idx="151"/>
          </p:nvPr>
        </p:nvSpPr>
        <p:spPr>
          <a:xfrm>
            <a:off x="367560" y="6356520"/>
            <a:ext cx="8719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0674C85-8A2A-4F59-AEC3-95B2F87BE96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2026-08-23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 type="ftr" idx="152"/>
          </p:nvPr>
        </p:nvSpPr>
        <p:spPr>
          <a:xfrm>
            <a:off x="1242000" y="6366600"/>
            <a:ext cx="649368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sldNum" idx="153"/>
          </p:nvPr>
        </p:nvSpPr>
        <p:spPr>
          <a:xfrm>
            <a:off x="11146680" y="6365160"/>
            <a:ext cx="67752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A78395-B674-409F-8A58-2EB03EB0036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Picture 10"/>
          <p:cNvPicPr/>
          <p:nvPr/>
        </p:nvPicPr>
        <p:blipFill>
          <a:blip r:embed="rId1"/>
          <a:stretch/>
        </p:blipFill>
        <p:spPr>
          <a:xfrm>
            <a:off x="101520" y="1472400"/>
            <a:ext cx="9448920" cy="173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5" name="Picture 11"/>
          <p:cNvPicPr/>
          <p:nvPr/>
        </p:nvPicPr>
        <p:blipFill>
          <a:blip r:embed="rId2"/>
          <a:stretch/>
        </p:blipFill>
        <p:spPr>
          <a:xfrm>
            <a:off x="1456200" y="2779920"/>
            <a:ext cx="7668360" cy="84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resentation">
  <a:themeElements>
    <a:clrScheme name="Presentation 1">
      <a:dk1>
        <a:srgbClr val="575756"/>
      </a:dk1>
      <a:lt1>
        <a:srgbClr val="FFFFFF"/>
      </a:lt1>
      <a:dk2>
        <a:srgbClr val="00699A"/>
      </a:dk2>
      <a:lt2>
        <a:srgbClr val="AAA39D"/>
      </a:lt2>
      <a:accent1>
        <a:srgbClr val="DF4807"/>
      </a:accent1>
      <a:accent2>
        <a:srgbClr val="AAA39D"/>
      </a:accent2>
      <a:accent3>
        <a:srgbClr val="FCC61E"/>
      </a:accent3>
      <a:accent4>
        <a:srgbClr val="35B4A0"/>
      </a:accent4>
      <a:accent5>
        <a:srgbClr val="CA007F"/>
      </a:accent5>
      <a:accent6>
        <a:srgbClr val="021E30"/>
      </a:accent6>
      <a:hlink>
        <a:srgbClr val="000000"/>
      </a:hlink>
      <a:folHlink>
        <a:srgbClr val="000000"/>
      </a:folHlink>
    </a:clrScheme>
    <a:fontScheme name="Presentation">
      <a:majorFont>
        <a:latin typeface="SRH Headline" pitchFamily="0" charset="1"/>
        <a:ea typeface="SRH Headline" pitchFamily="0" charset="1"/>
        <a:cs typeface="SRH Headline" pitchFamily="0" charset="1"/>
      </a:majorFont>
      <a:minorFont>
        <a:latin typeface="SRH Text" pitchFamily="0" charset="1"/>
        <a:ea typeface="SRH Text" pitchFamily="0" charset="1"/>
        <a:cs typeface="SRH Text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4682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2020-06-05T16:20:53Z</dcterms:created>
  <dc:creator>Henrike Voelker</dc:creator>
  <dc:description/>
  <dc:language>en-US</dc:language>
  <cp:lastModifiedBy/>
  <dcterms:modified xsi:type="dcterms:W3CDTF">2026-08-23T18:40:39Z</dcterms:modified>
  <cp:revision>117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